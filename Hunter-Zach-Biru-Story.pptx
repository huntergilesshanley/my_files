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0" r:id="rId4"/>
  </p:sldMasterIdLst>
  <p:notesMasterIdLst>
    <p:notesMasterId r:id="rId44"/>
  </p:notesMasterIdLst>
  <p:sldIdLst>
    <p:sldId id="274" r:id="rId5"/>
    <p:sldId id="297" r:id="rId6"/>
    <p:sldId id="298" r:id="rId7"/>
    <p:sldId id="276" r:id="rId8"/>
    <p:sldId id="307" r:id="rId9"/>
    <p:sldId id="277" r:id="rId10"/>
    <p:sldId id="275" r:id="rId11"/>
    <p:sldId id="264" r:id="rId12"/>
    <p:sldId id="266" r:id="rId13"/>
    <p:sldId id="299" r:id="rId14"/>
    <p:sldId id="267" r:id="rId15"/>
    <p:sldId id="268" r:id="rId16"/>
    <p:sldId id="269" r:id="rId17"/>
    <p:sldId id="270" r:id="rId18"/>
    <p:sldId id="271" r:id="rId19"/>
    <p:sldId id="300" r:id="rId20"/>
    <p:sldId id="301" r:id="rId21"/>
    <p:sldId id="303" r:id="rId22"/>
    <p:sldId id="304" r:id="rId23"/>
    <p:sldId id="302" r:id="rId24"/>
    <p:sldId id="305" r:id="rId25"/>
    <p:sldId id="281" r:id="rId26"/>
    <p:sldId id="283" r:id="rId27"/>
    <p:sldId id="282" r:id="rId28"/>
    <p:sldId id="293" r:id="rId29"/>
    <p:sldId id="294" r:id="rId30"/>
    <p:sldId id="295" r:id="rId31"/>
    <p:sldId id="296" r:id="rId32"/>
    <p:sldId id="308" r:id="rId33"/>
    <p:sldId id="314" r:id="rId34"/>
    <p:sldId id="291" r:id="rId35"/>
    <p:sldId id="292" r:id="rId36"/>
    <p:sldId id="306" r:id="rId37"/>
    <p:sldId id="261" r:id="rId38"/>
    <p:sldId id="309" r:id="rId39"/>
    <p:sldId id="310" r:id="rId40"/>
    <p:sldId id="311" r:id="rId41"/>
    <p:sldId id="312" r:id="rId42"/>
    <p:sldId id="313"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F11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8C3E8F-A236-4A0C-8B84-48080BA2D1DA}" v="3" dt="2022-04-05T08:41:02.444"/>
    <p1510:client id="{A7C84984-A527-4FE8-ABFF-CAF902BC1B99}" v="424" dt="2022-04-05T09:25:23.6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A054F5-569B-CB43-9547-115926C7B559}" type="datetimeFigureOut">
              <a:rPr lang="en-US" smtClean="0"/>
              <a:t>4/5/2022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4EF6B4-85E7-6D4C-8D51-E59F60B07F3A}" type="slidenum">
              <a:rPr lang="en-US" smtClean="0"/>
              <a:t>‹#›</a:t>
            </a:fld>
            <a:endParaRPr lang="en-US"/>
          </a:p>
        </p:txBody>
      </p:sp>
    </p:spTree>
    <p:extLst>
      <p:ext uri="{BB962C8B-B14F-4D97-AF65-F5344CB8AC3E}">
        <p14:creationId xmlns:p14="http://schemas.microsoft.com/office/powerpoint/2010/main" val="664834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04EF6B4-85E7-6D4C-8D51-E59F60B07F3A}" type="slidenum">
              <a:rPr lang="en-US" smtClean="0"/>
              <a:t>7</a:t>
            </a:fld>
            <a:endParaRPr lang="en-US"/>
          </a:p>
        </p:txBody>
      </p:sp>
    </p:spTree>
    <p:extLst>
      <p:ext uri="{BB962C8B-B14F-4D97-AF65-F5344CB8AC3E}">
        <p14:creationId xmlns:p14="http://schemas.microsoft.com/office/powerpoint/2010/main" val="22753279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5CF65-42B3-4370-AE05-EDA79C7B84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2579DF1A-55FC-47AB-9785-E033791A0A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03D18257-36F9-47B2-AF9B-81387D48A5EC}"/>
              </a:ext>
            </a:extLst>
          </p:cNvPr>
          <p:cNvSpPr>
            <a:spLocks noGrp="1"/>
          </p:cNvSpPr>
          <p:nvPr>
            <p:ph type="dt" sz="half" idx="10"/>
          </p:nvPr>
        </p:nvSpPr>
        <p:spPr/>
        <p:txBody>
          <a:bodyPr/>
          <a:lstStyle/>
          <a:p>
            <a:fld id="{6AD6EE87-EBD5-4F12-A48A-63ACA297AC8F}" type="datetimeFigureOut">
              <a:rPr lang="en-US" smtClean="0"/>
              <a:t>4/5/2022</a:t>
            </a:fld>
            <a:endParaRPr lang="en-US"/>
          </a:p>
        </p:txBody>
      </p:sp>
      <p:sp>
        <p:nvSpPr>
          <p:cNvPr id="5" name="Footer Placeholder 4">
            <a:extLst>
              <a:ext uri="{FF2B5EF4-FFF2-40B4-BE49-F238E27FC236}">
                <a16:creationId xmlns:a16="http://schemas.microsoft.com/office/drawing/2014/main" id="{8AA4785C-487F-43BA-A0F2-ECF9B11388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92A5CF-7B35-4DBC-8568-35E8D9D48016}"/>
              </a:ext>
            </a:extLst>
          </p:cNvPr>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40689479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1C73-E94F-4B8A-92EA-A7BE8C9A2C65}"/>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BAA969CE-A489-45C8-8E2A-9802282C23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D5D4B84-C84F-4A69-9F67-1DD9466551F7}"/>
              </a:ext>
            </a:extLst>
          </p:cNvPr>
          <p:cNvSpPr>
            <a:spLocks noGrp="1"/>
          </p:cNvSpPr>
          <p:nvPr>
            <p:ph type="dt" sz="half" idx="10"/>
          </p:nvPr>
        </p:nvSpPr>
        <p:spPr/>
        <p:txBody>
          <a:bodyPr/>
          <a:lstStyle/>
          <a:p>
            <a:fld id="{90298CD5-6C1E-4009-B41F-6DF62E31D3BE}" type="datetimeFigureOut">
              <a:rPr lang="en-US" smtClean="0"/>
              <a:pPr/>
              <a:t>4/5/2022</a:t>
            </a:fld>
            <a:endParaRPr lang="en-US"/>
          </a:p>
        </p:txBody>
      </p:sp>
      <p:sp>
        <p:nvSpPr>
          <p:cNvPr id="5" name="Footer Placeholder 4">
            <a:extLst>
              <a:ext uri="{FF2B5EF4-FFF2-40B4-BE49-F238E27FC236}">
                <a16:creationId xmlns:a16="http://schemas.microsoft.com/office/drawing/2014/main" id="{437BEB0E-A69B-4247-88EB-6E05ED8C18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1CB8D1-A3F3-4E7C-92E3-A9591ED4220D}"/>
              </a:ext>
            </a:extLst>
          </p:cNvPr>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3043730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4B7DC-CC7C-471E-B143-4A9C053F7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F4B842E6-8156-496C-A26C-49D397CD4A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B71ECD3-BAA0-4543-8409-655C89E82388}"/>
              </a:ext>
            </a:extLst>
          </p:cNvPr>
          <p:cNvSpPr>
            <a:spLocks noGrp="1"/>
          </p:cNvSpPr>
          <p:nvPr>
            <p:ph type="dt" sz="half" idx="10"/>
          </p:nvPr>
        </p:nvSpPr>
        <p:spPr/>
        <p:txBody>
          <a:bodyPr/>
          <a:lstStyle/>
          <a:p>
            <a:fld id="{5A61015F-7CC6-4D0A-9D87-873EA4C304CC}" type="datetimeFigureOut">
              <a:rPr lang="en-US" smtClean="0"/>
              <a:t>4/5/2022</a:t>
            </a:fld>
            <a:endParaRPr lang="en-US"/>
          </a:p>
        </p:txBody>
      </p:sp>
      <p:sp>
        <p:nvSpPr>
          <p:cNvPr id="5" name="Footer Placeholder 4">
            <a:extLst>
              <a:ext uri="{FF2B5EF4-FFF2-40B4-BE49-F238E27FC236}">
                <a16:creationId xmlns:a16="http://schemas.microsoft.com/office/drawing/2014/main" id="{15CC5084-8E9C-4321-96D5-9ADBDF9509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343F13-8BE2-4744-9775-8A108DF3EF66}"/>
              </a:ext>
            </a:extLst>
          </p:cNvPr>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870506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84B28-9760-4829-82A3-8E743537F548}"/>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52917701-3766-4EA8-9B53-67AA4B8088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73E474CD-AEF5-412B-9137-40D6645924C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EA125FE9-FBEF-426D-8018-20E307CF5DDB}"/>
              </a:ext>
            </a:extLst>
          </p:cNvPr>
          <p:cNvSpPr>
            <a:spLocks noGrp="1"/>
          </p:cNvSpPr>
          <p:nvPr>
            <p:ph type="dt" sz="half" idx="10"/>
          </p:nvPr>
        </p:nvSpPr>
        <p:spPr/>
        <p:txBody>
          <a:bodyPr/>
          <a:lstStyle/>
          <a:p>
            <a:fld id="{90298CD5-6C1E-4009-B41F-6DF62E31D3BE}" type="datetimeFigureOut">
              <a:rPr lang="en-US" smtClean="0"/>
              <a:pPr/>
              <a:t>4/5/2022</a:t>
            </a:fld>
            <a:endParaRPr lang="en-US"/>
          </a:p>
        </p:txBody>
      </p:sp>
      <p:sp>
        <p:nvSpPr>
          <p:cNvPr id="6" name="Footer Placeholder 5">
            <a:extLst>
              <a:ext uri="{FF2B5EF4-FFF2-40B4-BE49-F238E27FC236}">
                <a16:creationId xmlns:a16="http://schemas.microsoft.com/office/drawing/2014/main" id="{34AEBC9F-2449-40D7-AB4F-89DAEB4224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21A17F-ECEF-47F0-B1D0-92F7DA03DB26}"/>
              </a:ext>
            </a:extLst>
          </p:cNvPr>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3045735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E0F31-87C0-48E7-BA57-19B36F8B75EE}"/>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F15011C8-F6F0-48C2-BADF-66232A88CE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0A652D-0807-41EE-B990-9E593786E2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3FECF9EE-4E94-47A3-9AC8-D98E93FB22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6A3CA8-4DFC-44AB-B37C-7AD5282454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8BE17499-EAEC-4600-B945-D5461F00C046}"/>
              </a:ext>
            </a:extLst>
          </p:cNvPr>
          <p:cNvSpPr>
            <a:spLocks noGrp="1"/>
          </p:cNvSpPr>
          <p:nvPr>
            <p:ph type="dt" sz="half" idx="10"/>
          </p:nvPr>
        </p:nvSpPr>
        <p:spPr/>
        <p:txBody>
          <a:bodyPr/>
          <a:lstStyle/>
          <a:p>
            <a:fld id="{90298CD5-6C1E-4009-B41F-6DF62E31D3BE}" type="datetimeFigureOut">
              <a:rPr lang="en-US" smtClean="0"/>
              <a:pPr/>
              <a:t>4/5/2022</a:t>
            </a:fld>
            <a:endParaRPr lang="en-US"/>
          </a:p>
        </p:txBody>
      </p:sp>
      <p:sp>
        <p:nvSpPr>
          <p:cNvPr id="8" name="Footer Placeholder 7">
            <a:extLst>
              <a:ext uri="{FF2B5EF4-FFF2-40B4-BE49-F238E27FC236}">
                <a16:creationId xmlns:a16="http://schemas.microsoft.com/office/drawing/2014/main" id="{319ED12C-FB5A-4E2C-808F-15EFFB941FD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6A06A87-0AA7-40B0-9C74-BD10B5D68E7F}"/>
              </a:ext>
            </a:extLst>
          </p:cNvPr>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1569338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BC4CE-6E77-44FF-8546-77AFDE18CAE8}"/>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1B38A231-F541-496A-B6A0-C30039CC1718}"/>
              </a:ext>
            </a:extLst>
          </p:cNvPr>
          <p:cNvSpPr>
            <a:spLocks noGrp="1"/>
          </p:cNvSpPr>
          <p:nvPr>
            <p:ph type="dt" sz="half" idx="10"/>
          </p:nvPr>
        </p:nvSpPr>
        <p:spPr/>
        <p:txBody>
          <a:bodyPr/>
          <a:lstStyle/>
          <a:p>
            <a:fld id="{67EF4D4C-5367-4C26-9E2B-D8088D7FCA81}" type="datetimeFigureOut">
              <a:rPr lang="en-US" smtClean="0"/>
              <a:t>4/5/2022</a:t>
            </a:fld>
            <a:endParaRPr lang="en-US"/>
          </a:p>
        </p:txBody>
      </p:sp>
      <p:sp>
        <p:nvSpPr>
          <p:cNvPr id="4" name="Footer Placeholder 3">
            <a:extLst>
              <a:ext uri="{FF2B5EF4-FFF2-40B4-BE49-F238E27FC236}">
                <a16:creationId xmlns:a16="http://schemas.microsoft.com/office/drawing/2014/main" id="{E9607385-23C5-4500-B0C7-42359871A30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4958CF5-2137-4A9A-AB04-11B2294BE833}"/>
              </a:ext>
            </a:extLst>
          </p:cNvPr>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4875371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499B71-B3C8-48B1-8115-5708F940B4BC}"/>
              </a:ext>
            </a:extLst>
          </p:cNvPr>
          <p:cNvSpPr>
            <a:spLocks noGrp="1"/>
          </p:cNvSpPr>
          <p:nvPr>
            <p:ph type="dt" sz="half" idx="10"/>
          </p:nvPr>
        </p:nvSpPr>
        <p:spPr/>
        <p:txBody>
          <a:bodyPr/>
          <a:lstStyle/>
          <a:p>
            <a:fld id="{56E91E96-98B0-4413-9547-46F3504108EF}" type="datetimeFigureOut">
              <a:rPr lang="en-US" smtClean="0"/>
              <a:t>4/5/2022</a:t>
            </a:fld>
            <a:endParaRPr lang="en-US"/>
          </a:p>
        </p:txBody>
      </p:sp>
      <p:sp>
        <p:nvSpPr>
          <p:cNvPr id="3" name="Footer Placeholder 2">
            <a:extLst>
              <a:ext uri="{FF2B5EF4-FFF2-40B4-BE49-F238E27FC236}">
                <a16:creationId xmlns:a16="http://schemas.microsoft.com/office/drawing/2014/main" id="{A30AD5DB-8C6F-4652-BA6B-5D50F9FB1E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5B6B4A-5419-4400-8872-22A2EBC211E1}"/>
              </a:ext>
            </a:extLst>
          </p:cNvPr>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885084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37283-4F97-4BC9-A702-54255C45BC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88A31875-A36F-4C8B-B33A-36A6B0D89E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38E9D454-ACBB-4E47-A42F-732BB8DDBF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043C34-30FC-4D81-A840-BA4AD2D9EFC7}"/>
              </a:ext>
            </a:extLst>
          </p:cNvPr>
          <p:cNvSpPr>
            <a:spLocks noGrp="1"/>
          </p:cNvSpPr>
          <p:nvPr>
            <p:ph type="dt" sz="half" idx="10"/>
          </p:nvPr>
        </p:nvSpPr>
        <p:spPr/>
        <p:txBody>
          <a:bodyPr/>
          <a:lstStyle/>
          <a:p>
            <a:fld id="{90298CD5-6C1E-4009-B41F-6DF62E31D3BE}" type="datetimeFigureOut">
              <a:rPr lang="en-US" smtClean="0"/>
              <a:pPr/>
              <a:t>4/5/2022</a:t>
            </a:fld>
            <a:endParaRPr lang="en-US"/>
          </a:p>
        </p:txBody>
      </p:sp>
      <p:sp>
        <p:nvSpPr>
          <p:cNvPr id="6" name="Footer Placeholder 5">
            <a:extLst>
              <a:ext uri="{FF2B5EF4-FFF2-40B4-BE49-F238E27FC236}">
                <a16:creationId xmlns:a16="http://schemas.microsoft.com/office/drawing/2014/main" id="{F6734E68-E600-4641-9DCE-AD2C5F1296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BE6779-C2EC-43F4-804F-7A2A9A194F7A}"/>
              </a:ext>
            </a:extLst>
          </p:cNvPr>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38911690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CC324-A4F9-444C-8668-555FE1AF67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D0EB655F-B506-4FA6-85D5-8EFD663E46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6DC90984-ADD3-47C2-A628-5C459417F6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9AB12A-CAB3-4A47-8841-85BE8A81DAC5}"/>
              </a:ext>
            </a:extLst>
          </p:cNvPr>
          <p:cNvSpPr>
            <a:spLocks noGrp="1"/>
          </p:cNvSpPr>
          <p:nvPr>
            <p:ph type="dt" sz="half" idx="10"/>
          </p:nvPr>
        </p:nvSpPr>
        <p:spPr/>
        <p:txBody>
          <a:bodyPr/>
          <a:lstStyle/>
          <a:p>
            <a:fld id="{C7616CA0-919D-4A49-9C8A-62FDFB3A5183}" type="datetimeFigureOut">
              <a:rPr lang="en-US" smtClean="0"/>
              <a:t>4/5/2022</a:t>
            </a:fld>
            <a:endParaRPr lang="en-US"/>
          </a:p>
        </p:txBody>
      </p:sp>
      <p:sp>
        <p:nvSpPr>
          <p:cNvPr id="6" name="Footer Placeholder 5">
            <a:extLst>
              <a:ext uri="{FF2B5EF4-FFF2-40B4-BE49-F238E27FC236}">
                <a16:creationId xmlns:a16="http://schemas.microsoft.com/office/drawing/2014/main" id="{8E68B386-7A86-4974-BA5E-763474F80E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23BFEE-3427-4F0D-B2AC-BCC320E2B398}"/>
              </a:ext>
            </a:extLst>
          </p:cNvPr>
          <p:cNvSpPr>
            <a:spLocks noGrp="1"/>
          </p:cNvSpPr>
          <p:nvPr>
            <p:ph type="sldNum" sz="quarter" idx="12"/>
          </p:nvPr>
        </p:nvSpPr>
        <p:spPr/>
        <p:txBody>
          <a:bodyPr/>
          <a:lstStyle/>
          <a:p>
            <a:fld id="{867E5644-1E61-4311-A31E-84CB9C7AA8A9}" type="slidenum">
              <a:rPr lang="en-US" smtClean="0"/>
              <a:t>‹#›</a:t>
            </a:fld>
            <a:endParaRPr lang="en-US"/>
          </a:p>
        </p:txBody>
      </p:sp>
    </p:spTree>
    <p:extLst>
      <p:ext uri="{BB962C8B-B14F-4D97-AF65-F5344CB8AC3E}">
        <p14:creationId xmlns:p14="http://schemas.microsoft.com/office/powerpoint/2010/main" val="1544740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9975F-5102-4413-BA1F-9941F7EEF1DB}"/>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4FD53ECD-E7C2-47F2-9EBB-7962BE99C9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6A7BF19-828D-4D28-A566-D9654AF237EC}"/>
              </a:ext>
            </a:extLst>
          </p:cNvPr>
          <p:cNvSpPr>
            <a:spLocks noGrp="1"/>
          </p:cNvSpPr>
          <p:nvPr>
            <p:ph type="dt" sz="half" idx="10"/>
          </p:nvPr>
        </p:nvSpPr>
        <p:spPr/>
        <p:txBody>
          <a:bodyPr/>
          <a:lstStyle/>
          <a:p>
            <a:fld id="{90298CD5-6C1E-4009-B41F-6DF62E31D3BE}" type="datetimeFigureOut">
              <a:rPr lang="en-US" smtClean="0"/>
              <a:pPr/>
              <a:t>4/5/2022</a:t>
            </a:fld>
            <a:endParaRPr lang="en-US"/>
          </a:p>
        </p:txBody>
      </p:sp>
      <p:sp>
        <p:nvSpPr>
          <p:cNvPr id="5" name="Footer Placeholder 4">
            <a:extLst>
              <a:ext uri="{FF2B5EF4-FFF2-40B4-BE49-F238E27FC236}">
                <a16:creationId xmlns:a16="http://schemas.microsoft.com/office/drawing/2014/main" id="{701FC050-C6F8-479A-9BA6-483221B50C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D39ED7-C5EB-4F95-8032-B1FA7DE3E9FA}"/>
              </a:ext>
            </a:extLst>
          </p:cNvPr>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105520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A8BC8C-1E22-475E-990A-3323EEC56E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41D17FDC-0500-4E55-A26E-E5918A23B1E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AC3159B-5611-44EB-B46E-30AF6DD1BFFA}"/>
              </a:ext>
            </a:extLst>
          </p:cNvPr>
          <p:cNvSpPr>
            <a:spLocks noGrp="1"/>
          </p:cNvSpPr>
          <p:nvPr>
            <p:ph type="dt" sz="half" idx="10"/>
          </p:nvPr>
        </p:nvSpPr>
        <p:spPr/>
        <p:txBody>
          <a:bodyPr/>
          <a:lstStyle/>
          <a:p>
            <a:fld id="{90298CD5-6C1E-4009-B41F-6DF62E31D3BE}" type="datetimeFigureOut">
              <a:rPr lang="en-US" smtClean="0"/>
              <a:pPr/>
              <a:t>4/5/2022</a:t>
            </a:fld>
            <a:endParaRPr lang="en-US"/>
          </a:p>
        </p:txBody>
      </p:sp>
      <p:sp>
        <p:nvSpPr>
          <p:cNvPr id="5" name="Footer Placeholder 4">
            <a:extLst>
              <a:ext uri="{FF2B5EF4-FFF2-40B4-BE49-F238E27FC236}">
                <a16:creationId xmlns:a16="http://schemas.microsoft.com/office/drawing/2014/main" id="{FE751C84-66E1-41EF-9820-1EB55D13F0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15C258-1FEA-4EF3-AFB8-246DD5800B0B}"/>
              </a:ext>
            </a:extLst>
          </p:cNvPr>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4042452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2F92AF-5950-4224-907F-A4907C3525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11972B0-DAE0-4376-AC63-FE861FDC3C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9F44E4C9-2F4C-4791-AEAB-80BEE07513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298CD5-6C1E-4009-B41F-6DF62E31D3BE}" type="datetimeFigureOut">
              <a:rPr lang="en-US" smtClean="0"/>
              <a:pPr/>
              <a:t>4/5/2022</a:t>
            </a:fld>
            <a:endParaRPr lang="en-US"/>
          </a:p>
        </p:txBody>
      </p:sp>
      <p:sp>
        <p:nvSpPr>
          <p:cNvPr id="5" name="Footer Placeholder 4">
            <a:extLst>
              <a:ext uri="{FF2B5EF4-FFF2-40B4-BE49-F238E27FC236}">
                <a16:creationId xmlns:a16="http://schemas.microsoft.com/office/drawing/2014/main" id="{96B75EB6-BDAC-41A7-A03A-B3E01ED173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8316A57-5703-4188-AF84-92C677F8C0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AB73BC-B049-4115-A692-8D63A059BFB8}" type="slidenum">
              <a:rPr lang="en-US" smtClean="0"/>
              <a:pPr/>
              <a:t>‹#›</a:t>
            </a:fld>
            <a:endParaRPr lang="en-US"/>
          </a:p>
        </p:txBody>
      </p:sp>
    </p:spTree>
    <p:extLst>
      <p:ext uri="{BB962C8B-B14F-4D97-AF65-F5344CB8AC3E}">
        <p14:creationId xmlns:p14="http://schemas.microsoft.com/office/powerpoint/2010/main" val="435148249"/>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D4194-575C-2741-B359-3053BD49391B}"/>
              </a:ext>
            </a:extLst>
          </p:cNvPr>
          <p:cNvSpPr>
            <a:spLocks noGrp="1"/>
          </p:cNvSpPr>
          <p:nvPr>
            <p:ph type="title"/>
          </p:nvPr>
        </p:nvSpPr>
        <p:spPr>
          <a:xfrm>
            <a:off x="962562" y="3081662"/>
            <a:ext cx="10266875" cy="694676"/>
          </a:xfrm>
        </p:spPr>
        <p:txBody>
          <a:bodyPr anchor="b">
            <a:normAutofit/>
          </a:bodyPr>
          <a:lstStyle/>
          <a:p>
            <a:pPr algn="ctr"/>
            <a:r>
              <a:rPr lang="en-US" sz="4000" err="1">
                <a:solidFill>
                  <a:schemeClr val="bg1"/>
                </a:solidFill>
                <a:latin typeface="Roboto" panose="02000000000000000000" pitchFamily="2" charset="0"/>
                <a:ea typeface="Roboto" panose="02000000000000000000" pitchFamily="2" charset="0"/>
              </a:rPr>
              <a:t>Biru’s</a:t>
            </a:r>
            <a:r>
              <a:rPr lang="en-US" sz="4000">
                <a:solidFill>
                  <a:schemeClr val="bg1"/>
                </a:solidFill>
                <a:latin typeface="Roboto" panose="02000000000000000000" pitchFamily="2" charset="0"/>
                <a:ea typeface="Roboto" panose="02000000000000000000" pitchFamily="2" charset="0"/>
              </a:rPr>
              <a:t> Story</a:t>
            </a:r>
          </a:p>
        </p:txBody>
      </p:sp>
    </p:spTree>
    <p:extLst>
      <p:ext uri="{BB962C8B-B14F-4D97-AF65-F5344CB8AC3E}">
        <p14:creationId xmlns:p14="http://schemas.microsoft.com/office/powerpoint/2010/main" val="157637487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D4194-575C-2741-B359-3053BD49391B}"/>
              </a:ext>
            </a:extLst>
          </p:cNvPr>
          <p:cNvSpPr>
            <a:spLocks noGrp="1"/>
          </p:cNvSpPr>
          <p:nvPr>
            <p:ph type="title"/>
          </p:nvPr>
        </p:nvSpPr>
        <p:spPr>
          <a:xfrm>
            <a:off x="962562" y="3081662"/>
            <a:ext cx="10266875" cy="694676"/>
          </a:xfrm>
        </p:spPr>
        <p:txBody>
          <a:bodyPr anchor="b">
            <a:normAutofit/>
          </a:bodyPr>
          <a:lstStyle/>
          <a:p>
            <a:pPr algn="ctr"/>
            <a:r>
              <a:rPr lang="en-US" sz="4000">
                <a:solidFill>
                  <a:schemeClr val="bg1"/>
                </a:solidFill>
                <a:latin typeface="Roboto" panose="02000000000000000000" pitchFamily="2" charset="0"/>
                <a:ea typeface="Roboto" panose="02000000000000000000" pitchFamily="2" charset="0"/>
              </a:rPr>
              <a:t>Research Question:</a:t>
            </a:r>
          </a:p>
        </p:txBody>
      </p:sp>
    </p:spTree>
    <p:extLst>
      <p:ext uri="{BB962C8B-B14F-4D97-AF65-F5344CB8AC3E}">
        <p14:creationId xmlns:p14="http://schemas.microsoft.com/office/powerpoint/2010/main" val="2153299941"/>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D4194-575C-2741-B359-3053BD49391B}"/>
              </a:ext>
            </a:extLst>
          </p:cNvPr>
          <p:cNvSpPr>
            <a:spLocks noGrp="1"/>
          </p:cNvSpPr>
          <p:nvPr>
            <p:ph type="title"/>
          </p:nvPr>
        </p:nvSpPr>
        <p:spPr>
          <a:xfrm>
            <a:off x="962562" y="2115794"/>
            <a:ext cx="10266875" cy="2626411"/>
          </a:xfrm>
        </p:spPr>
        <p:txBody>
          <a:bodyPr anchor="b">
            <a:normAutofit fontScale="90000"/>
          </a:bodyPr>
          <a:lstStyle/>
          <a:p>
            <a:pPr algn="ctr"/>
            <a:r>
              <a:rPr lang="en-US" sz="4000">
                <a:solidFill>
                  <a:schemeClr val="bg1"/>
                </a:solidFill>
                <a:latin typeface="Roboto" panose="02000000000000000000" pitchFamily="2" charset="0"/>
                <a:ea typeface="Roboto" panose="02000000000000000000" pitchFamily="2" charset="0"/>
              </a:rPr>
              <a:t>How does Caritas Australia continue Jesus’ mission of human dignity by applying the  Catholic Social Teaching principles to support people in India who are struggling under conditions of poverty and discrimination?</a:t>
            </a:r>
          </a:p>
        </p:txBody>
      </p:sp>
    </p:spTree>
    <p:extLst>
      <p:ext uri="{BB962C8B-B14F-4D97-AF65-F5344CB8AC3E}">
        <p14:creationId xmlns:p14="http://schemas.microsoft.com/office/powerpoint/2010/main" val="1908769393"/>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D4194-575C-2741-B359-3053BD49391B}"/>
              </a:ext>
            </a:extLst>
          </p:cNvPr>
          <p:cNvSpPr>
            <a:spLocks noGrp="1"/>
          </p:cNvSpPr>
          <p:nvPr>
            <p:ph type="title"/>
          </p:nvPr>
        </p:nvSpPr>
        <p:spPr>
          <a:xfrm>
            <a:off x="962562" y="3081662"/>
            <a:ext cx="10266875" cy="694676"/>
          </a:xfrm>
        </p:spPr>
        <p:txBody>
          <a:bodyPr anchor="b">
            <a:normAutofit/>
          </a:bodyPr>
          <a:lstStyle/>
          <a:p>
            <a:pPr algn="ctr"/>
            <a:r>
              <a:rPr lang="en-US" sz="4000">
                <a:solidFill>
                  <a:schemeClr val="bg1"/>
                </a:solidFill>
                <a:latin typeface="Roboto" panose="02000000000000000000" pitchFamily="2" charset="0"/>
                <a:ea typeface="Roboto" panose="02000000000000000000" pitchFamily="2" charset="0"/>
              </a:rPr>
              <a:t>By Zach and Hunter</a:t>
            </a:r>
          </a:p>
        </p:txBody>
      </p:sp>
    </p:spTree>
    <p:extLst>
      <p:ext uri="{BB962C8B-B14F-4D97-AF65-F5344CB8AC3E}">
        <p14:creationId xmlns:p14="http://schemas.microsoft.com/office/powerpoint/2010/main" val="2829162603"/>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3DB1AE-D7A5-460E-B3F7-ADDCE6CFBA2E}"/>
              </a:ext>
            </a:extLst>
          </p:cNvPr>
          <p:cNvSpPr>
            <a:spLocks noGrp="1"/>
          </p:cNvSpPr>
          <p:nvPr>
            <p:ph type="title"/>
          </p:nvPr>
        </p:nvSpPr>
        <p:spPr>
          <a:xfrm>
            <a:off x="838200" y="2262873"/>
            <a:ext cx="10515600" cy="2332254"/>
          </a:xfrm>
        </p:spPr>
        <p:txBody>
          <a:bodyPr>
            <a:normAutofit/>
          </a:bodyPr>
          <a:lstStyle/>
          <a:p>
            <a:pPr algn="ctr"/>
            <a:r>
              <a:rPr lang="en-US" sz="4000" dirty="0">
                <a:latin typeface="Roboto" panose="02000000000000000000" pitchFamily="2" charset="0"/>
                <a:ea typeface="Roboto" panose="02000000000000000000" pitchFamily="2" charset="0"/>
              </a:rPr>
              <a:t> Who is </a:t>
            </a:r>
            <a:r>
              <a:rPr lang="en-US" sz="4000" dirty="0" err="1">
                <a:latin typeface="Roboto" panose="02000000000000000000" pitchFamily="2" charset="0"/>
                <a:ea typeface="Roboto" panose="02000000000000000000" pitchFamily="2" charset="0"/>
              </a:rPr>
              <a:t>Biru</a:t>
            </a:r>
            <a:r>
              <a:rPr lang="en-US" sz="4000" dirty="0">
                <a:latin typeface="Roboto" panose="02000000000000000000" pitchFamily="2" charset="0"/>
                <a:ea typeface="Roboto" panose="02000000000000000000" pitchFamily="2" charset="0"/>
              </a:rPr>
              <a:t>, and how is he affected by the social issues of poverty and discrimination?</a:t>
            </a:r>
            <a:endParaRPr lang="en-AU" sz="4000"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496495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D4194-575C-2741-B359-3053BD49391B}"/>
              </a:ext>
            </a:extLst>
          </p:cNvPr>
          <p:cNvSpPr>
            <a:spLocks noGrp="1"/>
          </p:cNvSpPr>
          <p:nvPr>
            <p:ph type="title"/>
          </p:nvPr>
        </p:nvSpPr>
        <p:spPr>
          <a:xfrm>
            <a:off x="962562" y="3081662"/>
            <a:ext cx="10266875" cy="694676"/>
          </a:xfrm>
        </p:spPr>
        <p:txBody>
          <a:bodyPr anchor="b">
            <a:normAutofit/>
          </a:bodyPr>
          <a:lstStyle/>
          <a:p>
            <a:pPr algn="ctr"/>
            <a:r>
              <a:rPr lang="en-US" sz="4000">
                <a:solidFill>
                  <a:schemeClr val="bg1"/>
                </a:solidFill>
                <a:latin typeface="Roboto" panose="02000000000000000000" pitchFamily="2" charset="0"/>
                <a:ea typeface="Roboto" panose="02000000000000000000" pitchFamily="2" charset="0"/>
              </a:rPr>
              <a:t>This is </a:t>
            </a:r>
            <a:r>
              <a:rPr lang="en-US" sz="4000" err="1">
                <a:solidFill>
                  <a:schemeClr val="bg1"/>
                </a:solidFill>
                <a:latin typeface="Roboto" panose="02000000000000000000" pitchFamily="2" charset="0"/>
                <a:ea typeface="Roboto" panose="02000000000000000000" pitchFamily="2" charset="0"/>
              </a:rPr>
              <a:t>Biru</a:t>
            </a:r>
            <a:endParaRPr lang="en-US" sz="4000">
              <a:solidFill>
                <a:schemeClr val="bg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482901334"/>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erson sitting on a wheelbarrow with a dog in the background&#10;&#10;Description automatically generated with low confidence">
            <a:extLst>
              <a:ext uri="{FF2B5EF4-FFF2-40B4-BE49-F238E27FC236}">
                <a16:creationId xmlns:a16="http://schemas.microsoft.com/office/drawing/2014/main" id="{E3C428F8-0EDF-48BB-87DE-97448D324B42}"/>
              </a:ext>
            </a:extLst>
          </p:cNvPr>
          <p:cNvPicPr>
            <a:picLocks noChangeAspect="1"/>
          </p:cNvPicPr>
          <p:nvPr/>
        </p:nvPicPr>
        <p:blipFill rotWithShape="1">
          <a:blip r:embed="rId3"/>
          <a:srcRect t="10956" r="-1" b="10956"/>
          <a:stretch/>
        </p:blipFill>
        <p:spPr>
          <a:xfrm>
            <a:off x="3494426" y="1066800"/>
            <a:ext cx="5203147" cy="4724400"/>
          </a:xfrm>
          <a:prstGeom prst="rect">
            <a:avLst/>
          </a:prstGeom>
          <a:ln>
            <a:noFill/>
          </a:ln>
          <a:effectLst/>
        </p:spPr>
      </p:pic>
    </p:spTree>
    <p:extLst>
      <p:ext uri="{BB962C8B-B14F-4D97-AF65-F5344CB8AC3E}">
        <p14:creationId xmlns:p14="http://schemas.microsoft.com/office/powerpoint/2010/main" val="273815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3DB1AE-D7A5-460E-B3F7-ADDCE6CFBA2E}"/>
              </a:ext>
            </a:extLst>
          </p:cNvPr>
          <p:cNvSpPr>
            <a:spLocks noGrp="1"/>
          </p:cNvSpPr>
          <p:nvPr>
            <p:ph type="title"/>
          </p:nvPr>
        </p:nvSpPr>
        <p:spPr>
          <a:xfrm>
            <a:off x="838200" y="2766218"/>
            <a:ext cx="10515600" cy="1325563"/>
          </a:xfrm>
        </p:spPr>
        <p:txBody>
          <a:bodyPr/>
          <a:lstStyle/>
          <a:p>
            <a:pPr algn="ctr"/>
            <a:r>
              <a:rPr lang="en-US" sz="4400">
                <a:solidFill>
                  <a:schemeClr val="bg1"/>
                </a:solidFill>
                <a:latin typeface="Roboto" panose="02000000000000000000" pitchFamily="2" charset="0"/>
                <a:ea typeface="Roboto" panose="02000000000000000000" pitchFamily="2" charset="0"/>
              </a:rPr>
              <a:t>He lives in a rural village in Jharkhand state</a:t>
            </a:r>
            <a:endParaRPr lang="en-AU"/>
          </a:p>
        </p:txBody>
      </p:sp>
    </p:spTree>
    <p:extLst>
      <p:ext uri="{BB962C8B-B14F-4D97-AF65-F5344CB8AC3E}">
        <p14:creationId xmlns:p14="http://schemas.microsoft.com/office/powerpoint/2010/main" val="987566203"/>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3DB1AE-D7A5-460E-B3F7-ADDCE6CFBA2E}"/>
              </a:ext>
            </a:extLst>
          </p:cNvPr>
          <p:cNvSpPr>
            <a:spLocks noGrp="1"/>
          </p:cNvSpPr>
          <p:nvPr>
            <p:ph type="title"/>
          </p:nvPr>
        </p:nvSpPr>
        <p:spPr>
          <a:xfrm>
            <a:off x="838200" y="2766218"/>
            <a:ext cx="10515600" cy="1325563"/>
          </a:xfrm>
        </p:spPr>
        <p:txBody>
          <a:bodyPr/>
          <a:lstStyle/>
          <a:p>
            <a:pPr algn="ctr"/>
            <a:r>
              <a:rPr lang="en-US">
                <a:solidFill>
                  <a:schemeClr val="bg1"/>
                </a:solidFill>
                <a:latin typeface="Roboto" panose="02000000000000000000" pitchFamily="2" charset="0"/>
                <a:ea typeface="Roboto" panose="02000000000000000000" pitchFamily="2" charset="0"/>
              </a:rPr>
              <a:t>In the east of India</a:t>
            </a:r>
            <a:endParaRPr lang="en-AU">
              <a:solidFill>
                <a:schemeClr val="bg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433084288"/>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D57C23-BD1E-4F8A-869B-1C03B8B065E3}"/>
              </a:ext>
            </a:extLst>
          </p:cNvPr>
          <p:cNvPicPr>
            <a:picLocks noChangeAspect="1"/>
          </p:cNvPicPr>
          <p:nvPr/>
        </p:nvPicPr>
        <p:blipFill>
          <a:blip r:embed="rId2"/>
          <a:stretch>
            <a:fillRect/>
          </a:stretch>
        </p:blipFill>
        <p:spPr>
          <a:xfrm>
            <a:off x="3974003" y="2233608"/>
            <a:ext cx="4243994" cy="2390783"/>
          </a:xfrm>
          <a:prstGeom prst="rect">
            <a:avLst/>
          </a:prstGeom>
        </p:spPr>
      </p:pic>
      <p:sp>
        <p:nvSpPr>
          <p:cNvPr id="4" name="Title 3">
            <a:extLst>
              <a:ext uri="{FF2B5EF4-FFF2-40B4-BE49-F238E27FC236}">
                <a16:creationId xmlns:a16="http://schemas.microsoft.com/office/drawing/2014/main" id="{A16B412C-28F2-4534-B96A-1C1BD23CAA03}"/>
              </a:ext>
            </a:extLst>
          </p:cNvPr>
          <p:cNvSpPr>
            <a:spLocks noGrp="1"/>
          </p:cNvSpPr>
          <p:nvPr>
            <p:ph type="title"/>
          </p:nvPr>
        </p:nvSpPr>
        <p:spPr/>
        <p:txBody>
          <a:bodyPr/>
          <a:lstStyle/>
          <a:p>
            <a:endParaRPr lang="en-AU"/>
          </a:p>
        </p:txBody>
      </p:sp>
    </p:spTree>
    <p:extLst>
      <p:ext uri="{BB962C8B-B14F-4D97-AF65-F5344CB8AC3E}">
        <p14:creationId xmlns:p14="http://schemas.microsoft.com/office/powerpoint/2010/main" val="3563986729"/>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3DB1AE-D7A5-460E-B3F7-ADDCE6CFBA2E}"/>
              </a:ext>
            </a:extLst>
          </p:cNvPr>
          <p:cNvSpPr>
            <a:spLocks noGrp="1"/>
          </p:cNvSpPr>
          <p:nvPr>
            <p:ph type="title"/>
          </p:nvPr>
        </p:nvSpPr>
        <p:spPr>
          <a:xfrm>
            <a:off x="838200" y="2766218"/>
            <a:ext cx="10515600" cy="1325563"/>
          </a:xfrm>
        </p:spPr>
        <p:txBody>
          <a:bodyPr/>
          <a:lstStyle/>
          <a:p>
            <a:pPr algn="ctr"/>
            <a:r>
              <a:rPr lang="en-US" sz="4400" err="1">
                <a:solidFill>
                  <a:schemeClr val="bg1"/>
                </a:solidFill>
                <a:latin typeface="Roboto" panose="02000000000000000000" pitchFamily="2" charset="0"/>
                <a:ea typeface="Roboto" panose="02000000000000000000" pitchFamily="2" charset="0"/>
              </a:rPr>
              <a:t>Biru</a:t>
            </a:r>
            <a:r>
              <a:rPr lang="en-US" sz="4400">
                <a:solidFill>
                  <a:schemeClr val="bg1"/>
                </a:solidFill>
                <a:latin typeface="Roboto" panose="02000000000000000000" pitchFamily="2" charset="0"/>
                <a:ea typeface="Roboto" panose="02000000000000000000" pitchFamily="2" charset="0"/>
              </a:rPr>
              <a:t> contracted polio when he was young</a:t>
            </a:r>
            <a:endParaRPr lang="en-AU">
              <a:solidFill>
                <a:schemeClr val="bg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771691366"/>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3DB1AE-D7A5-460E-B3F7-ADDCE6CFBA2E}"/>
              </a:ext>
            </a:extLst>
          </p:cNvPr>
          <p:cNvSpPr>
            <a:spLocks noGrp="1"/>
          </p:cNvSpPr>
          <p:nvPr>
            <p:ph type="title"/>
          </p:nvPr>
        </p:nvSpPr>
        <p:spPr>
          <a:xfrm>
            <a:off x="838200" y="2766218"/>
            <a:ext cx="10515600" cy="1325563"/>
          </a:xfrm>
        </p:spPr>
        <p:txBody>
          <a:bodyPr/>
          <a:lstStyle/>
          <a:p>
            <a:pPr algn="ctr"/>
            <a:r>
              <a:rPr lang="en-US" sz="4400">
                <a:solidFill>
                  <a:schemeClr val="bg1"/>
                </a:solidFill>
                <a:latin typeface="Roboto" panose="02000000000000000000" pitchFamily="2" charset="0"/>
                <a:ea typeface="Roboto" panose="02000000000000000000" pitchFamily="2" charset="0"/>
              </a:rPr>
              <a:t> And lost mobility in one of his legs</a:t>
            </a:r>
            <a:endParaRPr lang="en-AU">
              <a:solidFill>
                <a:schemeClr val="bg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011690891"/>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3DB1AE-D7A5-460E-B3F7-ADDCE6CFBA2E}"/>
              </a:ext>
            </a:extLst>
          </p:cNvPr>
          <p:cNvSpPr>
            <a:spLocks noGrp="1"/>
          </p:cNvSpPr>
          <p:nvPr>
            <p:ph type="title"/>
          </p:nvPr>
        </p:nvSpPr>
        <p:spPr>
          <a:xfrm>
            <a:off x="838200" y="2766218"/>
            <a:ext cx="10515600" cy="1325563"/>
          </a:xfrm>
        </p:spPr>
        <p:txBody>
          <a:bodyPr/>
          <a:lstStyle/>
          <a:p>
            <a:pPr algn="ctr"/>
            <a:r>
              <a:rPr lang="en-US">
                <a:solidFill>
                  <a:schemeClr val="bg1"/>
                </a:solidFill>
                <a:latin typeface="Roboto" panose="02000000000000000000" pitchFamily="2" charset="0"/>
                <a:ea typeface="Roboto" panose="02000000000000000000" pitchFamily="2" charset="0"/>
              </a:rPr>
              <a:t>So, it b</a:t>
            </a:r>
            <a:r>
              <a:rPr lang="en-US" sz="4400">
                <a:solidFill>
                  <a:schemeClr val="bg1"/>
                </a:solidFill>
                <a:latin typeface="Roboto" panose="02000000000000000000" pitchFamily="2" charset="0"/>
                <a:ea typeface="Roboto" panose="02000000000000000000" pitchFamily="2" charset="0"/>
              </a:rPr>
              <a:t>ecame very difficult to walk</a:t>
            </a:r>
            <a:endParaRPr lang="en-AU">
              <a:solidFill>
                <a:schemeClr val="bg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886377503"/>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3DB1AE-D7A5-460E-B3F7-ADDCE6CFBA2E}"/>
              </a:ext>
            </a:extLst>
          </p:cNvPr>
          <p:cNvSpPr>
            <a:spLocks noGrp="1"/>
          </p:cNvSpPr>
          <p:nvPr>
            <p:ph type="title"/>
          </p:nvPr>
        </p:nvSpPr>
        <p:spPr>
          <a:xfrm>
            <a:off x="838200" y="2766218"/>
            <a:ext cx="10515600" cy="1325563"/>
          </a:xfrm>
        </p:spPr>
        <p:txBody>
          <a:bodyPr/>
          <a:lstStyle/>
          <a:p>
            <a:pPr algn="ctr"/>
            <a:r>
              <a:rPr lang="en-US" sz="4400">
                <a:solidFill>
                  <a:schemeClr val="bg1"/>
                </a:solidFill>
                <a:latin typeface="Roboto" panose="02000000000000000000" pitchFamily="2" charset="0"/>
                <a:ea typeface="Roboto" panose="02000000000000000000" pitchFamily="2" charset="0"/>
              </a:rPr>
              <a:t>He was unable to attend school until 6</a:t>
            </a:r>
            <a:r>
              <a:rPr lang="en-US" sz="4400" baseline="30000">
                <a:solidFill>
                  <a:schemeClr val="bg1"/>
                </a:solidFill>
                <a:latin typeface="Roboto" panose="02000000000000000000" pitchFamily="2" charset="0"/>
                <a:ea typeface="Roboto" panose="02000000000000000000" pitchFamily="2" charset="0"/>
              </a:rPr>
              <a:t>th</a:t>
            </a:r>
            <a:r>
              <a:rPr lang="en-US" sz="4400">
                <a:solidFill>
                  <a:schemeClr val="bg1"/>
                </a:solidFill>
                <a:latin typeface="Roboto" panose="02000000000000000000" pitchFamily="2" charset="0"/>
                <a:ea typeface="Roboto" panose="02000000000000000000" pitchFamily="2" charset="0"/>
              </a:rPr>
              <a:t> grade</a:t>
            </a:r>
            <a:endParaRPr lang="en-AU">
              <a:solidFill>
                <a:schemeClr val="bg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4125332689"/>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3DB1AE-D7A5-460E-B3F7-ADDCE6CFBA2E}"/>
              </a:ext>
            </a:extLst>
          </p:cNvPr>
          <p:cNvSpPr>
            <a:spLocks noGrp="1"/>
          </p:cNvSpPr>
          <p:nvPr>
            <p:ph type="title"/>
          </p:nvPr>
        </p:nvSpPr>
        <p:spPr>
          <a:xfrm>
            <a:off x="838200" y="2766218"/>
            <a:ext cx="10515600" cy="1325563"/>
          </a:xfrm>
        </p:spPr>
        <p:txBody>
          <a:bodyPr>
            <a:normAutofit/>
          </a:bodyPr>
          <a:lstStyle/>
          <a:p>
            <a:pPr algn="ctr"/>
            <a:r>
              <a:rPr lang="en-US" sz="4400">
                <a:solidFill>
                  <a:schemeClr val="bg1"/>
                </a:solidFill>
                <a:latin typeface="Roboto" panose="02000000000000000000" pitchFamily="2" charset="0"/>
                <a:ea typeface="Roboto" panose="02000000000000000000" pitchFamily="2" charset="0"/>
              </a:rPr>
              <a:t>Although he had and still has the support of his family and friends</a:t>
            </a:r>
            <a:endParaRPr lang="en-AU">
              <a:solidFill>
                <a:schemeClr val="bg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662227060"/>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3DB1AE-D7A5-460E-B3F7-ADDCE6CFBA2E}"/>
              </a:ext>
            </a:extLst>
          </p:cNvPr>
          <p:cNvSpPr>
            <a:spLocks noGrp="1"/>
          </p:cNvSpPr>
          <p:nvPr>
            <p:ph type="title"/>
          </p:nvPr>
        </p:nvSpPr>
        <p:spPr>
          <a:xfrm>
            <a:off x="838200" y="2766218"/>
            <a:ext cx="10515600" cy="1325563"/>
          </a:xfrm>
        </p:spPr>
        <p:txBody>
          <a:bodyPr>
            <a:normAutofit/>
          </a:bodyPr>
          <a:lstStyle/>
          <a:p>
            <a:pPr algn="ctr"/>
            <a:r>
              <a:rPr lang="en-US" dirty="0" err="1">
                <a:solidFill>
                  <a:schemeClr val="bg1"/>
                </a:solidFill>
                <a:latin typeface="Roboto" panose="02000000000000000000" pitchFamily="2" charset="0"/>
                <a:ea typeface="Roboto" panose="02000000000000000000" pitchFamily="2" charset="0"/>
              </a:rPr>
              <a:t>Biru</a:t>
            </a:r>
            <a:r>
              <a:rPr lang="en-US" dirty="0">
                <a:solidFill>
                  <a:schemeClr val="bg1"/>
                </a:solidFill>
                <a:latin typeface="Roboto" panose="02000000000000000000" pitchFamily="2" charset="0"/>
                <a:ea typeface="Roboto" panose="02000000000000000000" pitchFamily="2" charset="0"/>
              </a:rPr>
              <a:t> used to be a shepherd</a:t>
            </a:r>
            <a:endParaRPr lang="en-AU" dirty="0">
              <a:solidFill>
                <a:schemeClr val="bg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816929702"/>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Picture 2" descr="A Lamb on grass">
            <a:extLst>
              <a:ext uri="{FF2B5EF4-FFF2-40B4-BE49-F238E27FC236}">
                <a16:creationId xmlns:a16="http://schemas.microsoft.com/office/drawing/2014/main" id="{96D8B7B3-5985-41D8-83EA-F9706C384080}"/>
              </a:ext>
            </a:extLst>
          </p:cNvPr>
          <p:cNvPicPr>
            <a:picLocks noChangeAspect="1"/>
          </p:cNvPicPr>
          <p:nvPr/>
        </p:nvPicPr>
        <p:blipFill rotWithShape="1">
          <a:blip r:embed="rId2"/>
          <a:srcRect t="4915" b="10815"/>
          <a:stretch/>
        </p:blipFill>
        <p:spPr>
          <a:xfrm>
            <a:off x="3365130" y="1892888"/>
            <a:ext cx="5461739" cy="3072224"/>
          </a:xfrm>
          <a:prstGeom prst="rect">
            <a:avLst/>
          </a:prstGeom>
        </p:spPr>
      </p:pic>
      <p:sp>
        <p:nvSpPr>
          <p:cNvPr id="4" name="Title 3">
            <a:extLst>
              <a:ext uri="{FF2B5EF4-FFF2-40B4-BE49-F238E27FC236}">
                <a16:creationId xmlns:a16="http://schemas.microsoft.com/office/drawing/2014/main" id="{BBBF5C3E-343D-4755-89A1-241D4C9138C3}"/>
              </a:ext>
            </a:extLst>
          </p:cNvPr>
          <p:cNvSpPr>
            <a:spLocks noGrp="1"/>
          </p:cNvSpPr>
          <p:nvPr>
            <p:ph type="title"/>
          </p:nvPr>
        </p:nvSpPr>
        <p:spPr/>
        <p:txBody>
          <a:bodyPr/>
          <a:lstStyle/>
          <a:p>
            <a:endParaRPr lang="en-AU" dirty="0"/>
          </a:p>
        </p:txBody>
      </p:sp>
    </p:spTree>
    <p:extLst>
      <p:ext uri="{BB962C8B-B14F-4D97-AF65-F5344CB8AC3E}">
        <p14:creationId xmlns:p14="http://schemas.microsoft.com/office/powerpoint/2010/main" val="565514833"/>
      </p:ext>
    </p:extLst>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3DB1AE-D7A5-460E-B3F7-ADDCE6CFBA2E}"/>
              </a:ext>
            </a:extLst>
          </p:cNvPr>
          <p:cNvSpPr>
            <a:spLocks noGrp="1"/>
          </p:cNvSpPr>
          <p:nvPr>
            <p:ph type="title"/>
          </p:nvPr>
        </p:nvSpPr>
        <p:spPr>
          <a:xfrm>
            <a:off x="838200" y="2766218"/>
            <a:ext cx="10515600" cy="1325563"/>
          </a:xfrm>
        </p:spPr>
        <p:txBody>
          <a:bodyPr>
            <a:normAutofit/>
          </a:bodyPr>
          <a:lstStyle/>
          <a:p>
            <a:pPr algn="ctr"/>
            <a:r>
              <a:rPr lang="en-US" dirty="0">
                <a:solidFill>
                  <a:schemeClr val="bg1"/>
                </a:solidFill>
                <a:latin typeface="Roboto" panose="02000000000000000000" pitchFamily="2" charset="0"/>
                <a:ea typeface="Roboto" panose="02000000000000000000" pitchFamily="2" charset="0"/>
              </a:rPr>
              <a:t>...but keeping up with the cattle would often be tedious for him</a:t>
            </a:r>
            <a:endParaRPr lang="en-AU" dirty="0">
              <a:solidFill>
                <a:schemeClr val="bg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931418586"/>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0C06DF-A487-47B1-908C-649B459DA62C}"/>
              </a:ext>
            </a:extLst>
          </p:cNvPr>
          <p:cNvSpPr>
            <a:spLocks noGrp="1"/>
          </p:cNvSpPr>
          <p:nvPr>
            <p:ph type="title"/>
          </p:nvPr>
        </p:nvSpPr>
        <p:spPr/>
        <p:txBody>
          <a:bodyPr/>
          <a:lstStyle/>
          <a:p>
            <a:endParaRPr lang="en-AU"/>
          </a:p>
        </p:txBody>
      </p:sp>
      <p:pic>
        <p:nvPicPr>
          <p:cNvPr id="6" name="Picture 5">
            <a:extLst>
              <a:ext uri="{FF2B5EF4-FFF2-40B4-BE49-F238E27FC236}">
                <a16:creationId xmlns:a16="http://schemas.microsoft.com/office/drawing/2014/main" id="{0FBFE771-A305-4F3F-A3D6-85041FD7E32E}"/>
              </a:ext>
            </a:extLst>
          </p:cNvPr>
          <p:cNvPicPr>
            <a:picLocks noChangeAspect="1"/>
          </p:cNvPicPr>
          <p:nvPr/>
        </p:nvPicPr>
        <p:blipFill rotWithShape="1">
          <a:blip r:embed="rId2"/>
          <a:srcRect/>
          <a:stretch/>
        </p:blipFill>
        <p:spPr>
          <a:xfrm>
            <a:off x="2068940" y="1163782"/>
            <a:ext cx="8054120" cy="4530436"/>
          </a:xfrm>
          <a:prstGeom prst="rect">
            <a:avLst/>
          </a:prstGeom>
        </p:spPr>
      </p:pic>
    </p:spTree>
    <p:extLst>
      <p:ext uri="{BB962C8B-B14F-4D97-AF65-F5344CB8AC3E}">
        <p14:creationId xmlns:p14="http://schemas.microsoft.com/office/powerpoint/2010/main" val="3606329675"/>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3DB1AE-D7A5-460E-B3F7-ADDCE6CFBA2E}"/>
              </a:ext>
            </a:extLst>
          </p:cNvPr>
          <p:cNvSpPr>
            <a:spLocks noGrp="1"/>
          </p:cNvSpPr>
          <p:nvPr>
            <p:ph type="title"/>
          </p:nvPr>
        </p:nvSpPr>
        <p:spPr>
          <a:xfrm>
            <a:off x="838200" y="2766218"/>
            <a:ext cx="10515600" cy="1325563"/>
          </a:xfrm>
        </p:spPr>
        <p:txBody>
          <a:bodyPr>
            <a:normAutofit/>
          </a:bodyPr>
          <a:lstStyle/>
          <a:p>
            <a:pPr algn="ctr"/>
            <a:r>
              <a:rPr lang="en-US" dirty="0">
                <a:solidFill>
                  <a:schemeClr val="bg1"/>
                </a:solidFill>
                <a:latin typeface="Roboto" panose="02000000000000000000" pitchFamily="2" charset="0"/>
                <a:ea typeface="Roboto" panose="02000000000000000000" pitchFamily="2" charset="0"/>
              </a:rPr>
              <a:t>as it required him to run...</a:t>
            </a:r>
            <a:endParaRPr lang="en-AU" dirty="0">
              <a:solidFill>
                <a:schemeClr val="bg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220902876"/>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D0B045-689F-40E5-9CD8-F0C4B5E759E8}"/>
              </a:ext>
            </a:extLst>
          </p:cNvPr>
          <p:cNvSpPr>
            <a:spLocks noGrp="1"/>
          </p:cNvSpPr>
          <p:nvPr>
            <p:ph type="title"/>
          </p:nvPr>
        </p:nvSpPr>
        <p:spPr/>
        <p:txBody>
          <a:bodyPr/>
          <a:lstStyle/>
          <a:p>
            <a:endParaRPr lang="en-AU"/>
          </a:p>
        </p:txBody>
      </p:sp>
      <p:pic>
        <p:nvPicPr>
          <p:cNvPr id="1026" name="Picture 2" descr="Running as the Thinking Person's Sport - The New York Times">
            <a:extLst>
              <a:ext uri="{FF2B5EF4-FFF2-40B4-BE49-F238E27FC236}">
                <a16:creationId xmlns:a16="http://schemas.microsoft.com/office/drawing/2014/main" id="{2C3B5383-6CA6-400C-B6F0-B6FE7E002B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6069" y="1378788"/>
            <a:ext cx="6519862" cy="41004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337239"/>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3DB1AE-D7A5-460E-B3F7-ADDCE6CFBA2E}"/>
              </a:ext>
            </a:extLst>
          </p:cNvPr>
          <p:cNvSpPr>
            <a:spLocks noGrp="1"/>
          </p:cNvSpPr>
          <p:nvPr>
            <p:ph type="title"/>
          </p:nvPr>
        </p:nvSpPr>
        <p:spPr>
          <a:xfrm>
            <a:off x="838200" y="2766218"/>
            <a:ext cx="10515600" cy="1325563"/>
          </a:xfrm>
        </p:spPr>
        <p:txBody>
          <a:bodyPr>
            <a:normAutofit/>
          </a:bodyPr>
          <a:lstStyle/>
          <a:p>
            <a:pPr algn="ctr"/>
            <a:r>
              <a:rPr lang="en-US" dirty="0">
                <a:solidFill>
                  <a:schemeClr val="bg1"/>
                </a:solidFill>
                <a:latin typeface="Roboto" panose="02000000000000000000" pitchFamily="2" charset="0"/>
                <a:ea typeface="Roboto" panose="02000000000000000000" pitchFamily="2" charset="0"/>
              </a:rPr>
              <a:t>...sometimes injuring him</a:t>
            </a:r>
            <a:endParaRPr lang="en-AU" dirty="0">
              <a:solidFill>
                <a:schemeClr val="bg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270691110"/>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3DB1AE-D7A5-460E-B3F7-ADDCE6CFBA2E}"/>
              </a:ext>
            </a:extLst>
          </p:cNvPr>
          <p:cNvSpPr>
            <a:spLocks noGrp="1"/>
          </p:cNvSpPr>
          <p:nvPr>
            <p:ph type="title"/>
          </p:nvPr>
        </p:nvSpPr>
        <p:spPr>
          <a:xfrm>
            <a:off x="838200" y="3109118"/>
            <a:ext cx="10515600" cy="1325563"/>
          </a:xfrm>
        </p:spPr>
        <p:txBody>
          <a:bodyPr>
            <a:normAutofit fontScale="90000"/>
          </a:bodyPr>
          <a:lstStyle/>
          <a:p>
            <a:pPr algn="ctr"/>
            <a:r>
              <a:rPr lang="en-US" sz="4400">
                <a:solidFill>
                  <a:schemeClr val="bg1"/>
                </a:solidFill>
                <a:latin typeface="Roboto" panose="02000000000000000000" pitchFamily="2" charset="0"/>
                <a:ea typeface="Roboto" panose="02000000000000000000" pitchFamily="2" charset="0"/>
              </a:rPr>
              <a:t>He lived in poverty, so he did not have access to the proper facilities or equipment required to help him. (over 26 million people with a disability live in poverty). </a:t>
            </a:r>
            <a:br>
              <a:rPr lang="en-US" sz="4400">
                <a:solidFill>
                  <a:schemeClr val="bg1"/>
                </a:solidFill>
                <a:latin typeface="Roboto" panose="02000000000000000000" pitchFamily="2" charset="0"/>
                <a:ea typeface="Roboto" panose="02000000000000000000" pitchFamily="2" charset="0"/>
              </a:rPr>
            </a:br>
            <a:endParaRPr lang="en-AU">
              <a:solidFill>
                <a:schemeClr val="bg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798467444"/>
      </p:ext>
    </p:extLst>
  </p:cSld>
  <p:clrMapOvr>
    <a:overrideClrMapping bg1="dk1" tx1="lt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3DB1AE-D7A5-460E-B3F7-ADDCE6CFBA2E}"/>
              </a:ext>
            </a:extLst>
          </p:cNvPr>
          <p:cNvSpPr>
            <a:spLocks noGrp="1"/>
          </p:cNvSpPr>
          <p:nvPr>
            <p:ph type="title"/>
          </p:nvPr>
        </p:nvSpPr>
        <p:spPr>
          <a:xfrm>
            <a:off x="838200" y="2766218"/>
            <a:ext cx="10515600" cy="1325563"/>
          </a:xfrm>
        </p:spPr>
        <p:txBody>
          <a:bodyPr>
            <a:normAutofit/>
          </a:bodyPr>
          <a:lstStyle/>
          <a:p>
            <a:pPr algn="ctr"/>
            <a:r>
              <a:rPr lang="en-US">
                <a:solidFill>
                  <a:schemeClr val="bg1"/>
                </a:solidFill>
                <a:latin typeface="Roboto" panose="02000000000000000000" pitchFamily="2" charset="0"/>
                <a:ea typeface="Roboto" panose="02000000000000000000" pitchFamily="2" charset="0"/>
              </a:rPr>
              <a:t>In his community, </a:t>
            </a:r>
            <a:r>
              <a:rPr lang="en-US" err="1">
                <a:solidFill>
                  <a:schemeClr val="bg1"/>
                </a:solidFill>
                <a:latin typeface="Roboto" panose="02000000000000000000" pitchFamily="2" charset="0"/>
                <a:ea typeface="Roboto" panose="02000000000000000000" pitchFamily="2" charset="0"/>
              </a:rPr>
              <a:t>Biru</a:t>
            </a:r>
            <a:r>
              <a:rPr lang="en-US">
                <a:solidFill>
                  <a:schemeClr val="bg1"/>
                </a:solidFill>
                <a:latin typeface="Roboto" panose="02000000000000000000" pitchFamily="2" charset="0"/>
                <a:ea typeface="Roboto" panose="02000000000000000000" pitchFamily="2" charset="0"/>
              </a:rPr>
              <a:t> was discriminated against due to his disability.</a:t>
            </a:r>
            <a:endParaRPr lang="en-AU">
              <a:solidFill>
                <a:schemeClr val="bg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636999616"/>
      </p:ext>
    </p:extLst>
  </p:cSld>
  <p:clrMapOvr>
    <a:overrideClrMapping bg1="dk1" tx1="lt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3DB1AE-D7A5-460E-B3F7-ADDCE6CFBA2E}"/>
              </a:ext>
            </a:extLst>
          </p:cNvPr>
          <p:cNvSpPr>
            <a:spLocks noGrp="1"/>
          </p:cNvSpPr>
          <p:nvPr>
            <p:ph type="title"/>
          </p:nvPr>
        </p:nvSpPr>
        <p:spPr>
          <a:xfrm>
            <a:off x="838200" y="1971927"/>
            <a:ext cx="10515600" cy="2914145"/>
          </a:xfrm>
        </p:spPr>
        <p:txBody>
          <a:bodyPr>
            <a:normAutofit/>
          </a:bodyPr>
          <a:lstStyle/>
          <a:p>
            <a:pPr algn="ctr"/>
            <a:r>
              <a:rPr lang="en-US" sz="4000">
                <a:solidFill>
                  <a:schemeClr val="bg1"/>
                </a:solidFill>
                <a:latin typeface="Roboto" panose="02000000000000000000" pitchFamily="2" charset="0"/>
                <a:ea typeface="Roboto" panose="02000000000000000000" pitchFamily="2" charset="0"/>
              </a:rPr>
              <a:t>Early in life, </a:t>
            </a:r>
            <a:r>
              <a:rPr lang="en-US" sz="4000" err="1">
                <a:solidFill>
                  <a:schemeClr val="bg1"/>
                </a:solidFill>
                <a:latin typeface="Roboto" panose="02000000000000000000" pitchFamily="2" charset="0"/>
                <a:ea typeface="Roboto" panose="02000000000000000000" pitchFamily="2" charset="0"/>
              </a:rPr>
              <a:t>Biru</a:t>
            </a:r>
            <a:r>
              <a:rPr lang="en-US" sz="4000">
                <a:solidFill>
                  <a:schemeClr val="bg1"/>
                </a:solidFill>
                <a:latin typeface="Roboto" panose="02000000000000000000" pitchFamily="2" charset="0"/>
                <a:ea typeface="Roboto" panose="02000000000000000000" pitchFamily="2" charset="0"/>
              </a:rPr>
              <a:t> needed to depend on his parents for help but as he got older, he found different ways to earn money and overcome the challenges of his disability.</a:t>
            </a:r>
            <a:endParaRPr lang="en-AU" sz="4000">
              <a:solidFill>
                <a:schemeClr val="bg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603299298"/>
      </p:ext>
    </p:extLst>
  </p:cSld>
  <p:clrMapOvr>
    <a:overrideClrMapping bg1="dk1" tx1="lt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3DB1AE-D7A5-460E-B3F7-ADDCE6CFBA2E}"/>
              </a:ext>
            </a:extLst>
          </p:cNvPr>
          <p:cNvSpPr>
            <a:spLocks noGrp="1"/>
          </p:cNvSpPr>
          <p:nvPr>
            <p:ph type="title"/>
          </p:nvPr>
        </p:nvSpPr>
        <p:spPr>
          <a:xfrm>
            <a:off x="838200" y="2590800"/>
            <a:ext cx="10515600" cy="1676399"/>
          </a:xfrm>
        </p:spPr>
        <p:txBody>
          <a:bodyPr>
            <a:normAutofit/>
          </a:bodyPr>
          <a:lstStyle/>
          <a:p>
            <a:pPr algn="ctr"/>
            <a:r>
              <a:rPr lang="en-US" sz="4000">
                <a:solidFill>
                  <a:schemeClr val="bg1"/>
                </a:solidFill>
                <a:latin typeface="Roboto" panose="02000000000000000000" pitchFamily="2" charset="0"/>
                <a:ea typeface="Roboto" panose="02000000000000000000" pitchFamily="2" charset="0"/>
              </a:rPr>
              <a:t>At a young age, </a:t>
            </a:r>
            <a:r>
              <a:rPr lang="en-US" sz="4000" err="1">
                <a:solidFill>
                  <a:schemeClr val="bg1"/>
                </a:solidFill>
                <a:latin typeface="Roboto" panose="02000000000000000000" pitchFamily="2" charset="0"/>
                <a:ea typeface="Roboto" panose="02000000000000000000" pitchFamily="2" charset="0"/>
              </a:rPr>
              <a:t>Biru</a:t>
            </a:r>
            <a:r>
              <a:rPr lang="en-US" sz="4000">
                <a:solidFill>
                  <a:schemeClr val="bg1"/>
                </a:solidFill>
                <a:latin typeface="Roboto" panose="02000000000000000000" pitchFamily="2" charset="0"/>
                <a:ea typeface="Roboto" panose="02000000000000000000" pitchFamily="2" charset="0"/>
              </a:rPr>
              <a:t> started to shepherding other people’s cattle. </a:t>
            </a:r>
            <a:endParaRPr lang="en-AU" sz="4000">
              <a:solidFill>
                <a:schemeClr val="bg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992157240"/>
      </p:ext>
    </p:extLst>
  </p:cSld>
  <p:clrMapOvr>
    <a:overrideClrMapping bg1="dk1" tx1="lt1" bg2="dk2" tx2="lt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3DB1AE-D7A5-460E-B3F7-ADDCE6CFBA2E}"/>
              </a:ext>
            </a:extLst>
          </p:cNvPr>
          <p:cNvSpPr>
            <a:spLocks noGrp="1"/>
          </p:cNvSpPr>
          <p:nvPr>
            <p:ph type="title"/>
          </p:nvPr>
        </p:nvSpPr>
        <p:spPr>
          <a:xfrm>
            <a:off x="838200" y="2766218"/>
            <a:ext cx="10515600" cy="1325563"/>
          </a:xfrm>
        </p:spPr>
        <p:txBody>
          <a:bodyPr>
            <a:normAutofit fontScale="90000"/>
          </a:bodyPr>
          <a:lstStyle/>
          <a:p>
            <a:pPr algn="ctr"/>
            <a:r>
              <a:rPr lang="en-US" err="1">
                <a:solidFill>
                  <a:schemeClr val="bg1"/>
                </a:solidFill>
                <a:latin typeface="Roboto" panose="02000000000000000000" pitchFamily="2" charset="0"/>
                <a:ea typeface="Roboto" panose="02000000000000000000" pitchFamily="2" charset="0"/>
              </a:rPr>
              <a:t>Biru</a:t>
            </a:r>
            <a:r>
              <a:rPr lang="en-US">
                <a:solidFill>
                  <a:schemeClr val="bg1"/>
                </a:solidFill>
                <a:latin typeface="Roboto" panose="02000000000000000000" pitchFamily="2" charset="0"/>
                <a:ea typeface="Roboto" panose="02000000000000000000" pitchFamily="2" charset="0"/>
              </a:rPr>
              <a:t> has continued to work after his marriage and has four children although it has started to become harder to perform his job</a:t>
            </a:r>
            <a:endParaRPr lang="en-AU">
              <a:solidFill>
                <a:schemeClr val="bg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692907279"/>
      </p:ext>
    </p:extLst>
  </p:cSld>
  <p:clrMapOvr>
    <a:overrideClrMapping bg1="dk1" tx1="lt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3DB1AE-D7A5-460E-B3F7-ADDCE6CFBA2E}"/>
              </a:ext>
            </a:extLst>
          </p:cNvPr>
          <p:cNvSpPr>
            <a:spLocks noGrp="1"/>
          </p:cNvSpPr>
          <p:nvPr>
            <p:ph type="title"/>
          </p:nvPr>
        </p:nvSpPr>
        <p:spPr>
          <a:xfrm>
            <a:off x="838200" y="2262873"/>
            <a:ext cx="10515600" cy="2332254"/>
          </a:xfrm>
        </p:spPr>
        <p:txBody>
          <a:bodyPr>
            <a:normAutofit/>
          </a:bodyPr>
          <a:lstStyle/>
          <a:p>
            <a:pPr algn="ctr"/>
            <a:r>
              <a:rPr lang="en-US" sz="4000" err="1">
                <a:solidFill>
                  <a:schemeClr val="bg1"/>
                </a:solidFill>
                <a:latin typeface="Roboto" panose="02000000000000000000" pitchFamily="2" charset="0"/>
                <a:ea typeface="Roboto" panose="02000000000000000000" pitchFamily="2" charset="0"/>
              </a:rPr>
              <a:t>Biru</a:t>
            </a:r>
            <a:r>
              <a:rPr lang="en-US" sz="4000">
                <a:solidFill>
                  <a:schemeClr val="bg1"/>
                </a:solidFill>
                <a:latin typeface="Roboto" panose="02000000000000000000" pitchFamily="2" charset="0"/>
                <a:ea typeface="Roboto" panose="02000000000000000000" pitchFamily="2" charset="0"/>
              </a:rPr>
              <a:t> then taught himself how to repair bicycles after looking after cattle became too challenging</a:t>
            </a:r>
            <a:endParaRPr lang="en-AU" sz="4000">
              <a:solidFill>
                <a:schemeClr val="bg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078385412"/>
      </p:ext>
    </p:extLst>
  </p:cSld>
  <p:clrMapOvr>
    <a:overrideClrMapping bg1="dk1" tx1="lt1" bg2="dk2" tx2="lt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3DB1AE-D7A5-460E-B3F7-ADDCE6CFBA2E}"/>
              </a:ext>
            </a:extLst>
          </p:cNvPr>
          <p:cNvSpPr>
            <a:spLocks noGrp="1"/>
          </p:cNvSpPr>
          <p:nvPr>
            <p:ph type="title"/>
          </p:nvPr>
        </p:nvSpPr>
        <p:spPr>
          <a:xfrm>
            <a:off x="838200" y="2262873"/>
            <a:ext cx="10515600" cy="2332254"/>
          </a:xfrm>
        </p:spPr>
        <p:txBody>
          <a:bodyPr>
            <a:normAutofit/>
          </a:bodyPr>
          <a:lstStyle/>
          <a:p>
            <a:pPr algn="ctr"/>
            <a:r>
              <a:rPr lang="en-US" sz="4000" dirty="0">
                <a:latin typeface="Roboto" panose="02000000000000000000" pitchFamily="2" charset="0"/>
                <a:ea typeface="Roboto" panose="02000000000000000000" pitchFamily="2" charset="0"/>
              </a:rPr>
              <a:t>How and why does Caritas address discrimination and poverty, and what have they done for </a:t>
            </a:r>
            <a:r>
              <a:rPr lang="en-US" sz="4000" dirty="0" err="1">
                <a:latin typeface="Roboto" panose="02000000000000000000" pitchFamily="2" charset="0"/>
                <a:ea typeface="Roboto" panose="02000000000000000000" pitchFamily="2" charset="0"/>
              </a:rPr>
              <a:t>Biru</a:t>
            </a:r>
            <a:r>
              <a:rPr lang="en-US" sz="4000" dirty="0">
                <a:latin typeface="Roboto" panose="02000000000000000000" pitchFamily="2" charset="0"/>
                <a:ea typeface="Roboto" panose="02000000000000000000" pitchFamily="2" charset="0"/>
              </a:rPr>
              <a:t>?</a:t>
            </a:r>
            <a:endParaRPr lang="en-AU" sz="4000"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2796509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3DB1AE-D7A5-460E-B3F7-ADDCE6CFBA2E}"/>
              </a:ext>
            </a:extLst>
          </p:cNvPr>
          <p:cNvSpPr>
            <a:spLocks noGrp="1"/>
          </p:cNvSpPr>
          <p:nvPr>
            <p:ph type="title"/>
          </p:nvPr>
        </p:nvSpPr>
        <p:spPr>
          <a:xfrm>
            <a:off x="838200" y="2262873"/>
            <a:ext cx="10515600" cy="2332254"/>
          </a:xfrm>
        </p:spPr>
        <p:txBody>
          <a:bodyPr>
            <a:normAutofit/>
          </a:bodyPr>
          <a:lstStyle/>
          <a:p>
            <a:pPr algn="ctr"/>
            <a:r>
              <a:rPr lang="en-US" sz="4000" dirty="0">
                <a:latin typeface="Roboto" panose="02000000000000000000" pitchFamily="2" charset="0"/>
                <a:ea typeface="Roboto" panose="02000000000000000000" pitchFamily="2" charset="0"/>
              </a:rPr>
              <a:t>Caritas has provided support to </a:t>
            </a:r>
            <a:r>
              <a:rPr lang="en-US" sz="4000" dirty="0" err="1">
                <a:latin typeface="Roboto" panose="02000000000000000000" pitchFamily="2" charset="0"/>
                <a:ea typeface="Roboto" panose="02000000000000000000" pitchFamily="2" charset="0"/>
              </a:rPr>
              <a:t>Biru</a:t>
            </a:r>
            <a:r>
              <a:rPr lang="en-US" sz="4000" dirty="0">
                <a:latin typeface="Roboto" panose="02000000000000000000" pitchFamily="2" charset="0"/>
                <a:ea typeface="Roboto" panose="02000000000000000000" pitchFamily="2" charset="0"/>
              </a:rPr>
              <a:t> in the form of entrepreneurship and livelihood training programs</a:t>
            </a:r>
            <a:endParaRPr lang="en-AU" sz="4000"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7934725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3DB1AE-D7A5-460E-B3F7-ADDCE6CFBA2E}"/>
              </a:ext>
            </a:extLst>
          </p:cNvPr>
          <p:cNvSpPr>
            <a:spLocks noGrp="1"/>
          </p:cNvSpPr>
          <p:nvPr>
            <p:ph type="title"/>
          </p:nvPr>
        </p:nvSpPr>
        <p:spPr>
          <a:xfrm>
            <a:off x="838200" y="2262873"/>
            <a:ext cx="10515600" cy="2332254"/>
          </a:xfrm>
        </p:spPr>
        <p:txBody>
          <a:bodyPr>
            <a:normAutofit/>
          </a:bodyPr>
          <a:lstStyle/>
          <a:p>
            <a:pPr algn="ctr"/>
            <a:r>
              <a:rPr lang="en-US" sz="4000" dirty="0" err="1">
                <a:solidFill>
                  <a:schemeClr val="bg1"/>
                </a:solidFill>
                <a:latin typeface="Roboto" panose="02000000000000000000" pitchFamily="2" charset="0"/>
                <a:ea typeface="Roboto" panose="02000000000000000000" pitchFamily="2" charset="0"/>
              </a:rPr>
              <a:t>Biru</a:t>
            </a:r>
            <a:r>
              <a:rPr lang="en-US" sz="4000" dirty="0">
                <a:solidFill>
                  <a:schemeClr val="bg1"/>
                </a:solidFill>
                <a:latin typeface="Roboto" panose="02000000000000000000" pitchFamily="2" charset="0"/>
                <a:ea typeface="Roboto" panose="02000000000000000000" pitchFamily="2" charset="0"/>
              </a:rPr>
              <a:t> now, with the support of Caritas’ programs owns and actively runs his own bicycle repair business.</a:t>
            </a:r>
            <a:endParaRPr lang="en-AU" sz="4000" dirty="0">
              <a:solidFill>
                <a:schemeClr val="bg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035459771"/>
      </p:ext>
    </p:extLst>
  </p:cSld>
  <p:clrMapOvr>
    <a:overrideClrMapping bg1="dk1" tx1="lt1" bg2="dk2" tx2="lt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3DB1AE-D7A5-460E-B3F7-ADDCE6CFBA2E}"/>
              </a:ext>
            </a:extLst>
          </p:cNvPr>
          <p:cNvSpPr>
            <a:spLocks noGrp="1"/>
          </p:cNvSpPr>
          <p:nvPr>
            <p:ph type="title"/>
          </p:nvPr>
        </p:nvSpPr>
        <p:spPr>
          <a:xfrm>
            <a:off x="838200" y="2766218"/>
            <a:ext cx="10515600" cy="1325563"/>
          </a:xfrm>
        </p:spPr>
        <p:txBody>
          <a:bodyPr>
            <a:normAutofit/>
          </a:bodyPr>
          <a:lstStyle/>
          <a:p>
            <a:pPr algn="ctr"/>
            <a:endParaRPr lang="en-AU">
              <a:solidFill>
                <a:schemeClr val="bg1"/>
              </a:solidFill>
              <a:latin typeface="Roboto" panose="02000000000000000000" pitchFamily="2" charset="0"/>
              <a:ea typeface="Roboto" panose="02000000000000000000" pitchFamily="2" charset="0"/>
            </a:endParaRPr>
          </a:p>
        </p:txBody>
      </p:sp>
      <p:pic>
        <p:nvPicPr>
          <p:cNvPr id="1026" name="Picture 2" descr="Biru is seen working at his bicycle repair shop outside his home in his village in the state of Jharkhand, India. Photo: Sameer Bara/Caritas Australia">
            <a:extLst>
              <a:ext uri="{FF2B5EF4-FFF2-40B4-BE49-F238E27FC236}">
                <a16:creationId xmlns:a16="http://schemas.microsoft.com/office/drawing/2014/main" id="{EC7E4C72-4364-4966-8133-C6EBF7218E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3163" y="990600"/>
            <a:ext cx="7305675"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8051376"/>
      </p:ext>
    </p:extLst>
  </p:cSld>
  <p:clrMapOvr>
    <a:overrideClrMapping bg1="dk1" tx1="lt1" bg2="dk2" tx2="lt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3DB1AE-D7A5-460E-B3F7-ADDCE6CFBA2E}"/>
              </a:ext>
            </a:extLst>
          </p:cNvPr>
          <p:cNvSpPr>
            <a:spLocks noGrp="1"/>
          </p:cNvSpPr>
          <p:nvPr>
            <p:ph type="title"/>
          </p:nvPr>
        </p:nvSpPr>
        <p:spPr>
          <a:xfrm>
            <a:off x="838200" y="2262873"/>
            <a:ext cx="10515600" cy="2332254"/>
          </a:xfrm>
        </p:spPr>
        <p:txBody>
          <a:bodyPr>
            <a:normAutofit/>
          </a:bodyPr>
          <a:lstStyle/>
          <a:p>
            <a:pPr algn="ctr"/>
            <a:r>
              <a:rPr lang="en-US" sz="4000" dirty="0">
                <a:solidFill>
                  <a:schemeClr val="bg1"/>
                </a:solidFill>
                <a:latin typeface="Roboto" panose="02000000000000000000" pitchFamily="2" charset="0"/>
                <a:ea typeface="Roboto" panose="02000000000000000000" pitchFamily="2" charset="0"/>
              </a:rPr>
              <a:t>How does the work Caritas undertakes towards discrimination and poverty relate to Catholic Social Teaching?</a:t>
            </a:r>
            <a:endParaRPr lang="en-AU" sz="4000" dirty="0">
              <a:solidFill>
                <a:schemeClr val="bg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768427303"/>
      </p:ext>
    </p:extLst>
  </p:cSld>
  <p:clrMapOvr>
    <a:overrideClrMapping bg1="dk1" tx1="lt1" bg2="dk2" tx2="lt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1F8690-8808-415C-90C3-037DE336A60D}"/>
              </a:ext>
            </a:extLst>
          </p:cNvPr>
          <p:cNvSpPr>
            <a:spLocks noGrp="1"/>
          </p:cNvSpPr>
          <p:nvPr>
            <p:ph idx="1"/>
          </p:nvPr>
        </p:nvSpPr>
        <p:spPr>
          <a:xfrm>
            <a:off x="838200" y="1508557"/>
            <a:ext cx="10515600" cy="3840885"/>
          </a:xfrm>
        </p:spPr>
        <p:txBody>
          <a:bodyPr/>
          <a:lstStyle/>
          <a:p>
            <a:r>
              <a:rPr lang="en-AU" dirty="0">
                <a:latin typeface="Roboto" panose="02000000000000000000" pitchFamily="2" charset="0"/>
                <a:ea typeface="Roboto" panose="02000000000000000000" pitchFamily="2" charset="0"/>
              </a:rPr>
              <a:t>Caritas works to end Poverty and promote Justice in countries throughout Africa, Asia, Australia, the Pacific and the middle east, including </a:t>
            </a:r>
            <a:r>
              <a:rPr lang="en-AU" dirty="0" err="1">
                <a:latin typeface="Roboto" panose="02000000000000000000" pitchFamily="2" charset="0"/>
                <a:ea typeface="Roboto" panose="02000000000000000000" pitchFamily="2" charset="0"/>
              </a:rPr>
              <a:t>Biru’s</a:t>
            </a:r>
            <a:r>
              <a:rPr lang="en-AU" dirty="0">
                <a:latin typeface="Roboto" panose="02000000000000000000" pitchFamily="2" charset="0"/>
                <a:ea typeface="Roboto" panose="02000000000000000000" pitchFamily="2" charset="0"/>
              </a:rPr>
              <a:t> village, </a:t>
            </a:r>
            <a:r>
              <a:rPr lang="en-AU" dirty="0" err="1">
                <a:latin typeface="Roboto" panose="02000000000000000000" pitchFamily="2" charset="0"/>
                <a:ea typeface="Roboto" panose="02000000000000000000" pitchFamily="2" charset="0"/>
              </a:rPr>
              <a:t>Jharkland</a:t>
            </a:r>
            <a:r>
              <a:rPr lang="en-AU" dirty="0">
                <a:latin typeface="Roboto" panose="02000000000000000000" pitchFamily="2" charset="0"/>
                <a:ea typeface="Roboto" panose="02000000000000000000" pitchFamily="2" charset="0"/>
              </a:rPr>
              <a:t> State. </a:t>
            </a:r>
          </a:p>
          <a:p>
            <a:r>
              <a:rPr lang="en-AU" dirty="0">
                <a:latin typeface="Roboto" panose="02000000000000000000" pitchFamily="2" charset="0"/>
                <a:ea typeface="Roboto" panose="02000000000000000000" pitchFamily="2" charset="0"/>
              </a:rPr>
              <a:t>In </a:t>
            </a:r>
            <a:r>
              <a:rPr lang="en-AU" dirty="0" err="1">
                <a:latin typeface="Roboto" panose="02000000000000000000" pitchFamily="2" charset="0"/>
                <a:ea typeface="Roboto" panose="02000000000000000000" pitchFamily="2" charset="0"/>
              </a:rPr>
              <a:t>Jharkland</a:t>
            </a:r>
            <a:r>
              <a:rPr lang="en-AU" dirty="0">
                <a:latin typeface="Roboto" panose="02000000000000000000" pitchFamily="2" charset="0"/>
                <a:ea typeface="Roboto" panose="02000000000000000000" pitchFamily="2" charset="0"/>
              </a:rPr>
              <a:t> State, Caritas works to develop sustainable incomes of workers, improve access to Education and health services and empower women’s voices.</a:t>
            </a:r>
          </a:p>
          <a:p>
            <a:r>
              <a:rPr lang="en-AU" dirty="0">
                <a:latin typeface="Roboto" panose="02000000000000000000" pitchFamily="2" charset="0"/>
                <a:ea typeface="Roboto" panose="02000000000000000000" pitchFamily="2" charset="0"/>
              </a:rPr>
              <a:t>Caritas carefully designs their development and humanitarian programs by improving basic necessities like water, sanitation, hygiene, healthcare and education. </a:t>
            </a:r>
          </a:p>
          <a:p>
            <a:endParaRPr lang="en-AU" dirty="0">
              <a:latin typeface="Roboto" panose="02000000000000000000" pitchFamily="2" charset="0"/>
              <a:ea typeface="Roboto" panose="02000000000000000000" pitchFamily="2" charset="0"/>
            </a:endParaRPr>
          </a:p>
        </p:txBody>
      </p:sp>
      <p:sp>
        <p:nvSpPr>
          <p:cNvPr id="5" name="Title 4">
            <a:extLst>
              <a:ext uri="{FF2B5EF4-FFF2-40B4-BE49-F238E27FC236}">
                <a16:creationId xmlns:a16="http://schemas.microsoft.com/office/drawing/2014/main" id="{243C54A7-F5FC-4B20-8FDF-965B0F30CE52}"/>
              </a:ext>
            </a:extLst>
          </p:cNvPr>
          <p:cNvSpPr>
            <a:spLocks noGrp="1"/>
          </p:cNvSpPr>
          <p:nvPr>
            <p:ph type="title"/>
          </p:nvPr>
        </p:nvSpPr>
        <p:spPr/>
        <p:txBody>
          <a:bodyPr/>
          <a:lstStyle/>
          <a:p>
            <a:endParaRPr lang="en-AU"/>
          </a:p>
        </p:txBody>
      </p:sp>
    </p:spTree>
    <p:extLst>
      <p:ext uri="{BB962C8B-B14F-4D97-AF65-F5344CB8AC3E}">
        <p14:creationId xmlns:p14="http://schemas.microsoft.com/office/powerpoint/2010/main" val="42812001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3DB1AE-D7A5-460E-B3F7-ADDCE6CFBA2E}"/>
              </a:ext>
            </a:extLst>
          </p:cNvPr>
          <p:cNvSpPr>
            <a:spLocks noGrp="1"/>
          </p:cNvSpPr>
          <p:nvPr>
            <p:ph type="title"/>
          </p:nvPr>
        </p:nvSpPr>
        <p:spPr>
          <a:xfrm>
            <a:off x="838200" y="2262873"/>
            <a:ext cx="10515600" cy="2332254"/>
          </a:xfrm>
        </p:spPr>
        <p:txBody>
          <a:bodyPr>
            <a:normAutofit/>
          </a:bodyPr>
          <a:lstStyle/>
          <a:p>
            <a:pPr algn="ctr"/>
            <a:r>
              <a:rPr lang="en-US" sz="4000" dirty="0">
                <a:solidFill>
                  <a:schemeClr val="bg1"/>
                </a:solidFill>
                <a:latin typeface="Roboto" panose="02000000000000000000" pitchFamily="2" charset="0"/>
                <a:ea typeface="Roboto" panose="02000000000000000000" pitchFamily="2" charset="0"/>
              </a:rPr>
              <a:t>References</a:t>
            </a:r>
            <a:endParaRPr lang="en-AU" sz="4000" dirty="0">
              <a:solidFill>
                <a:schemeClr val="bg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402745234"/>
      </p:ext>
    </p:extLst>
  </p:cSld>
  <p:clrMapOvr>
    <a:overrideClrMapping bg1="dk1" tx1="lt1" bg2="dk2" tx2="lt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3DB1AE-D7A5-460E-B3F7-ADDCE6CFBA2E}"/>
              </a:ext>
            </a:extLst>
          </p:cNvPr>
          <p:cNvSpPr>
            <a:spLocks noGrp="1"/>
          </p:cNvSpPr>
          <p:nvPr>
            <p:ph type="title"/>
          </p:nvPr>
        </p:nvSpPr>
        <p:spPr>
          <a:xfrm>
            <a:off x="838200" y="2262873"/>
            <a:ext cx="10515600" cy="2332254"/>
          </a:xfrm>
        </p:spPr>
        <p:txBody>
          <a:bodyPr>
            <a:normAutofit/>
          </a:bodyPr>
          <a:lstStyle/>
          <a:p>
            <a:pPr algn="ctr"/>
            <a:r>
              <a:rPr lang="en-US" sz="4000" dirty="0">
                <a:solidFill>
                  <a:schemeClr val="bg1"/>
                </a:solidFill>
                <a:latin typeface="Roboto" panose="02000000000000000000" pitchFamily="2" charset="0"/>
                <a:ea typeface="Roboto" panose="02000000000000000000" pitchFamily="2" charset="0"/>
              </a:rPr>
              <a:t>Harvard style</a:t>
            </a:r>
            <a:endParaRPr lang="en-AU" sz="4000" dirty="0">
              <a:solidFill>
                <a:schemeClr val="bg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881811593"/>
      </p:ext>
    </p:extLst>
  </p:cSld>
  <p:clrMapOvr>
    <a:overrideClrMapping bg1="dk1" tx1="lt1" bg2="dk2" tx2="lt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9A78902-B757-4B57-BBE1-232C835659D7}"/>
              </a:ext>
            </a:extLst>
          </p:cNvPr>
          <p:cNvSpPr>
            <a:spLocks noGrp="1"/>
          </p:cNvSpPr>
          <p:nvPr>
            <p:ph type="title"/>
          </p:nvPr>
        </p:nvSpPr>
        <p:spPr/>
        <p:txBody>
          <a:bodyPr/>
          <a:lstStyle/>
          <a:p>
            <a:endParaRPr lang="en-AU"/>
          </a:p>
        </p:txBody>
      </p:sp>
      <p:pic>
        <p:nvPicPr>
          <p:cNvPr id="2050" name="Picture 2" descr="I, too, am Harvard – THE BOMB LIFE">
            <a:extLst>
              <a:ext uri="{FF2B5EF4-FFF2-40B4-BE49-F238E27FC236}">
                <a16:creationId xmlns:a16="http://schemas.microsoft.com/office/drawing/2014/main" id="{3AF52C01-4A9C-4F94-8E44-D1865FDF7B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0893" y="812445"/>
            <a:ext cx="5990214" cy="52331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6285377"/>
      </p:ext>
    </p:extLst>
  </p:cSld>
  <p:clrMapOvr>
    <a:overrideClrMapping bg1="dk1" tx1="lt1" bg2="dk2" tx2="lt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3DB1AE-D7A5-460E-B3F7-ADDCE6CFBA2E}"/>
              </a:ext>
            </a:extLst>
          </p:cNvPr>
          <p:cNvSpPr>
            <a:spLocks noGrp="1"/>
          </p:cNvSpPr>
          <p:nvPr>
            <p:ph type="title"/>
          </p:nvPr>
        </p:nvSpPr>
        <p:spPr>
          <a:xfrm>
            <a:off x="838200" y="2262873"/>
            <a:ext cx="10515600" cy="2332254"/>
          </a:xfrm>
        </p:spPr>
        <p:txBody>
          <a:bodyPr>
            <a:normAutofit/>
          </a:bodyPr>
          <a:lstStyle/>
          <a:p>
            <a:pPr algn="ctr"/>
            <a:r>
              <a:rPr lang="en-US" sz="4000" dirty="0">
                <a:solidFill>
                  <a:schemeClr val="bg1"/>
                </a:solidFill>
                <a:latin typeface="Roboto" panose="02000000000000000000" pitchFamily="2" charset="0"/>
                <a:ea typeface="Roboto" panose="02000000000000000000" pitchFamily="2" charset="0"/>
              </a:rPr>
              <a:t>Harvard style</a:t>
            </a:r>
            <a:endParaRPr lang="en-AU" sz="4000" dirty="0">
              <a:solidFill>
                <a:schemeClr val="bg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983320090"/>
      </p:ext>
    </p:extLst>
  </p:cSld>
  <p:clrMapOvr>
    <a:overrideClrMapping bg1="dk1" tx1="lt1" bg2="dk2" tx2="lt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03DB1AE-D7A5-460E-B3F7-ADDCE6CFBA2E}"/>
              </a:ext>
            </a:extLst>
          </p:cNvPr>
          <p:cNvSpPr>
            <a:spLocks noGrp="1"/>
          </p:cNvSpPr>
          <p:nvPr>
            <p:ph type="title"/>
          </p:nvPr>
        </p:nvSpPr>
        <p:spPr>
          <a:xfrm>
            <a:off x="838200" y="2262873"/>
            <a:ext cx="10515600" cy="2332254"/>
          </a:xfrm>
        </p:spPr>
        <p:txBody>
          <a:bodyPr>
            <a:normAutofit fontScale="90000"/>
          </a:bodyPr>
          <a:lstStyle/>
          <a:p>
            <a:pPr algn="ctr"/>
            <a:r>
              <a:rPr lang="en-US" sz="4000" dirty="0">
                <a:solidFill>
                  <a:schemeClr val="bg1"/>
                </a:solidFill>
                <a:latin typeface="Roboto" panose="02000000000000000000" pitchFamily="2" charset="0"/>
                <a:ea typeface="Roboto" panose="02000000000000000000" pitchFamily="2" charset="0"/>
              </a:rPr>
              <a:t>Wikipedia. 2022. Caritas Internationalis - Wikipedia. [ONLINE] Available at: https://</a:t>
            </a:r>
            <a:r>
              <a:rPr lang="en-US" sz="4000" dirty="0" err="1">
                <a:solidFill>
                  <a:schemeClr val="bg1"/>
                </a:solidFill>
                <a:latin typeface="Roboto" panose="02000000000000000000" pitchFamily="2" charset="0"/>
                <a:ea typeface="Roboto" panose="02000000000000000000" pitchFamily="2" charset="0"/>
              </a:rPr>
              <a:t>en.wikipedia.org</a:t>
            </a:r>
            <a:r>
              <a:rPr lang="en-US" sz="4000" dirty="0">
                <a:solidFill>
                  <a:schemeClr val="bg1"/>
                </a:solidFill>
                <a:latin typeface="Roboto" panose="02000000000000000000" pitchFamily="2" charset="0"/>
                <a:ea typeface="Roboto" panose="02000000000000000000" pitchFamily="2" charset="0"/>
              </a:rPr>
              <a:t>/wiki/</a:t>
            </a:r>
            <a:r>
              <a:rPr lang="en-US" sz="4000" dirty="0" err="1">
                <a:solidFill>
                  <a:schemeClr val="bg1"/>
                </a:solidFill>
                <a:latin typeface="Roboto" panose="02000000000000000000" pitchFamily="2" charset="0"/>
                <a:ea typeface="Roboto" panose="02000000000000000000" pitchFamily="2" charset="0"/>
              </a:rPr>
              <a:t>Caritas_Internationalis</a:t>
            </a:r>
            <a:r>
              <a:rPr lang="en-US" sz="4000" dirty="0">
                <a:solidFill>
                  <a:schemeClr val="bg1"/>
                </a:solidFill>
                <a:latin typeface="Roboto" panose="02000000000000000000" pitchFamily="2" charset="0"/>
                <a:ea typeface="Roboto" panose="02000000000000000000" pitchFamily="2" charset="0"/>
              </a:rPr>
              <a:t>. [Accessed 05 April 2022].</a:t>
            </a:r>
            <a:br>
              <a:rPr lang="en-US" sz="4000" dirty="0">
                <a:solidFill>
                  <a:schemeClr val="bg1"/>
                </a:solidFill>
                <a:latin typeface="Roboto" panose="02000000000000000000" pitchFamily="2" charset="0"/>
                <a:ea typeface="Roboto" panose="02000000000000000000" pitchFamily="2" charset="0"/>
              </a:rPr>
            </a:br>
            <a:br>
              <a:rPr lang="en-US" sz="4000" dirty="0">
                <a:solidFill>
                  <a:schemeClr val="bg1"/>
                </a:solidFill>
                <a:latin typeface="Roboto" panose="02000000000000000000" pitchFamily="2" charset="0"/>
                <a:ea typeface="Roboto" panose="02000000000000000000" pitchFamily="2" charset="0"/>
              </a:rPr>
            </a:br>
            <a:r>
              <a:rPr lang="en-US" sz="4000" dirty="0">
                <a:solidFill>
                  <a:schemeClr val="bg1"/>
                </a:solidFill>
                <a:latin typeface="Roboto" panose="02000000000000000000" pitchFamily="2" charset="0"/>
                <a:ea typeface="Roboto" panose="02000000000000000000" pitchFamily="2" charset="0"/>
              </a:rPr>
              <a:t>Caritas. 2022. </a:t>
            </a:r>
            <a:r>
              <a:rPr lang="en-US" sz="4000" dirty="0" err="1">
                <a:solidFill>
                  <a:schemeClr val="bg1"/>
                </a:solidFill>
                <a:latin typeface="Roboto" panose="02000000000000000000" pitchFamily="2" charset="0"/>
                <a:ea typeface="Roboto" panose="02000000000000000000" pitchFamily="2" charset="0"/>
              </a:rPr>
              <a:t>Biru's</a:t>
            </a:r>
            <a:r>
              <a:rPr lang="en-US" sz="4000" dirty="0">
                <a:solidFill>
                  <a:schemeClr val="bg1"/>
                </a:solidFill>
                <a:latin typeface="Roboto" panose="02000000000000000000" pitchFamily="2" charset="0"/>
                <a:ea typeface="Roboto" panose="02000000000000000000" pitchFamily="2" charset="0"/>
              </a:rPr>
              <a:t> story. [ONLINE] Available at: https://</a:t>
            </a:r>
            <a:r>
              <a:rPr lang="en-US" sz="4000" dirty="0" err="1">
                <a:solidFill>
                  <a:schemeClr val="bg1"/>
                </a:solidFill>
                <a:latin typeface="Roboto" panose="02000000000000000000" pitchFamily="2" charset="0"/>
                <a:ea typeface="Roboto" panose="02000000000000000000" pitchFamily="2" charset="0"/>
              </a:rPr>
              <a:t>www.caritas.org.au</a:t>
            </a:r>
            <a:r>
              <a:rPr lang="en-US" sz="4000" dirty="0">
                <a:solidFill>
                  <a:schemeClr val="bg1"/>
                </a:solidFill>
                <a:latin typeface="Roboto" panose="02000000000000000000" pitchFamily="2" charset="0"/>
                <a:ea typeface="Roboto" panose="02000000000000000000" pitchFamily="2" charset="0"/>
              </a:rPr>
              <a:t>/project-compassion/</a:t>
            </a:r>
            <a:r>
              <a:rPr lang="en-US" sz="4000" dirty="0" err="1">
                <a:solidFill>
                  <a:schemeClr val="bg1"/>
                </a:solidFill>
                <a:latin typeface="Roboto" panose="02000000000000000000" pitchFamily="2" charset="0"/>
                <a:ea typeface="Roboto" panose="02000000000000000000" pitchFamily="2" charset="0"/>
              </a:rPr>
              <a:t>biru</a:t>
            </a:r>
            <a:r>
              <a:rPr lang="en-US" sz="4000" dirty="0">
                <a:solidFill>
                  <a:schemeClr val="bg1"/>
                </a:solidFill>
                <a:latin typeface="Roboto" panose="02000000000000000000" pitchFamily="2" charset="0"/>
                <a:ea typeface="Roboto" panose="02000000000000000000" pitchFamily="2" charset="0"/>
              </a:rPr>
              <a:t>-story/. [Accessed 05 April 2022].</a:t>
            </a:r>
            <a:endParaRPr lang="en-AU" sz="4000" dirty="0">
              <a:solidFill>
                <a:schemeClr val="bg1"/>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858233762"/>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F86B649ECA32F4B84AC5EA30E1B0370" ma:contentTypeVersion="13" ma:contentTypeDescription="Create a new document." ma:contentTypeScope="" ma:versionID="b759b1964c1e4d994dda6f617deb40af">
  <xsd:schema xmlns:xsd="http://www.w3.org/2001/XMLSchema" xmlns:xs="http://www.w3.org/2001/XMLSchema" xmlns:p="http://schemas.microsoft.com/office/2006/metadata/properties" xmlns:ns3="a49ad07a-ab3b-4a61-8cd8-47c5086e37bf" xmlns:ns4="01a96fbb-c292-44dc-af35-5b344cd0b95b" targetNamespace="http://schemas.microsoft.com/office/2006/metadata/properties" ma:root="true" ma:fieldsID="324a33df23619bf42e87f30be93f1565" ns3:_="" ns4:_="">
    <xsd:import namespace="a49ad07a-ab3b-4a61-8cd8-47c5086e37bf"/>
    <xsd:import namespace="01a96fbb-c292-44dc-af35-5b344cd0b95b"/>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4:SharedWithUsers" minOccurs="0"/>
                <xsd:element ref="ns4:SharedWithDetails" minOccurs="0"/>
                <xsd:element ref="ns4:SharingHintHash" minOccurs="0"/>
                <xsd:element ref="ns3:MediaServiceAutoKeyPoints" minOccurs="0"/>
                <xsd:element ref="ns3:MediaServiceKeyPoints" minOccurs="0"/>
                <xsd:element ref="ns3:MediaServiceLocation"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9ad07a-ab3b-4a61-8cd8-47c5086e37b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a96fbb-c292-44dc-af35-5b344cd0b95b"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3872269-4295-4AD2-96B8-BC6E4BB2DBCB}">
  <ds:schemaRefs>
    <ds:schemaRef ds:uri="a49ad07a-ab3b-4a61-8cd8-47c5086e37bf"/>
    <ds:schemaRef ds:uri="01a96fbb-c292-44dc-af35-5b344cd0b95b"/>
    <ds:schemaRef ds:uri="http://schemas.microsoft.com/office/2006/documentManagement/types"/>
    <ds:schemaRef ds:uri="http://purl.org/dc/terms/"/>
    <ds:schemaRef ds:uri="http://purl.org/dc/dcmitype/"/>
    <ds:schemaRef ds:uri="http://schemas.microsoft.com/office/2006/metadata/properties"/>
    <ds:schemaRef ds:uri="http://purl.org/dc/elements/1.1/"/>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EB252D64-4344-4C54-85D7-0EAE2B030A3A}">
  <ds:schemaRefs>
    <ds:schemaRef ds:uri="01a96fbb-c292-44dc-af35-5b344cd0b95b"/>
    <ds:schemaRef ds:uri="a49ad07a-ab3b-4a61-8cd8-47c5086e37b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E97BB21-6855-45EC-AEDF-237C6E3E826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511</Words>
  <Application>Microsoft Office PowerPoint</Application>
  <PresentationFormat>Widescreen</PresentationFormat>
  <Paragraphs>35</Paragraphs>
  <Slides>39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Calibri Light</vt:lpstr>
      <vt:lpstr>Roboto</vt:lpstr>
      <vt:lpstr>Office Theme</vt:lpstr>
      <vt:lpstr>Biru’s Story</vt:lpstr>
      <vt:lpstr>Research Question:</vt:lpstr>
      <vt:lpstr>How does Caritas Australia continue Jesus’ mission of human dignity by applying the  Catholic Social Teaching principles to support people in India who are struggling under conditions of poverty and discrimination?</vt:lpstr>
      <vt:lpstr>By Zach and Hunter</vt:lpstr>
      <vt:lpstr> Who is Biru, and how is he affected by the social issues of poverty and discrimination?</vt:lpstr>
      <vt:lpstr>This is Biru</vt:lpstr>
      <vt:lpstr>PowerPoint Presentation</vt:lpstr>
      <vt:lpstr>He lives in a rural village in Jharkhand state</vt:lpstr>
      <vt:lpstr>In the east of India</vt:lpstr>
      <vt:lpstr>PowerPoint Presentation</vt:lpstr>
      <vt:lpstr>Biru contracted polio when he was young</vt:lpstr>
      <vt:lpstr> And lost mobility in one of his legs</vt:lpstr>
      <vt:lpstr>So, it became very difficult to walk</vt:lpstr>
      <vt:lpstr>He was unable to attend school until 6th grade</vt:lpstr>
      <vt:lpstr>Although he had and still has the support of his family and friends</vt:lpstr>
      <vt:lpstr>Biru used to be a shepherd</vt:lpstr>
      <vt:lpstr>PowerPoint Presentation</vt:lpstr>
      <vt:lpstr>...but keeping up with the cattle would often be tedious for him</vt:lpstr>
      <vt:lpstr>PowerPoint Presentation</vt:lpstr>
      <vt:lpstr>as it required him to run...</vt:lpstr>
      <vt:lpstr>PowerPoint Presentation</vt:lpstr>
      <vt:lpstr>...sometimes injuring him</vt:lpstr>
      <vt:lpstr>He lived in poverty, so he did not have access to the proper facilities or equipment required to help him. (over 26 million people with a disability live in poverty).  </vt:lpstr>
      <vt:lpstr>In his community, Biru was discriminated against due to his disability.</vt:lpstr>
      <vt:lpstr>Early in life, Biru needed to depend on his parents for help but as he got older, he found different ways to earn money and overcome the challenges of his disability.</vt:lpstr>
      <vt:lpstr>At a young age, Biru started to shepherding other people’s cattle. </vt:lpstr>
      <vt:lpstr>Biru has continued to work after his marriage and has four children although it has started to become harder to perform his job</vt:lpstr>
      <vt:lpstr>Biru then taught himself how to repair bicycles after looking after cattle became too challenging</vt:lpstr>
      <vt:lpstr>How and why does Caritas address discrimination and poverty, and what have they done for Biru?</vt:lpstr>
      <vt:lpstr>Caritas has provided support to Biru in the form of entrepreneurship and livelihood training programs</vt:lpstr>
      <vt:lpstr>Biru now, with the support of Caritas’ programs owns and actively runs his own bicycle repair business.</vt:lpstr>
      <vt:lpstr>PowerPoint Presentation</vt:lpstr>
      <vt:lpstr>How does the work Caritas undertakes towards discrimination and poverty relate to Catholic Social Teaching?</vt:lpstr>
      <vt:lpstr>PowerPoint Presentation</vt:lpstr>
      <vt:lpstr>References</vt:lpstr>
      <vt:lpstr>Harvard style</vt:lpstr>
      <vt:lpstr>PowerPoint Presentation</vt:lpstr>
      <vt:lpstr>Harvard style</vt:lpstr>
      <vt:lpstr>Wikipedia. 2022. Caritas Internationalis - Wikipedia. [ONLINE] Available at: https://en.wikipedia.org/wiki/Caritas_Internationalis. [Accessed 05 April 2022].  Caritas. 2022. Biru's story. [ONLINE] Available at: https://www.caritas.org.au/project-compassion/biru-story/. [Accessed 05 April 2022].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Braden Fyneman (John XXIII College)</dc:creator>
  <cp:lastModifiedBy>Hunter Giles-Shanley (John XXIII College)</cp:lastModifiedBy>
  <cp:revision>1</cp:revision>
  <dcterms:created xsi:type="dcterms:W3CDTF">2022-02-09T02:29:04Z</dcterms:created>
  <dcterms:modified xsi:type="dcterms:W3CDTF">2022-04-05T09:25:23Z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0x0101005F86B649ECA32F4B84AC5EA30E1B0370</vt:lpwstr>
  </property>
</Properties>
</file>